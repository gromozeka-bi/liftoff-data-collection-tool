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Суть: Полёт без NAV возможен; координаты для мониторинга нужны; борт не дорабатываем.</a:t>
            </a:r>
          </a:p>
          <a:p>
            <a:r>
              <a:t>Время: 0:30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Суть: Типовые методы требуют борта или инфраструктуры.</a:t>
            </a:r>
          </a:p>
          <a:p>
            <a:r>
              <a:t>Время: 0:30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Суть: RC + видео на ПК; локализация по трассе; Record/Replay.</a:t>
            </a:r>
          </a:p>
          <a:p>
            <a:r>
              <a:t>Время: 0:30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Суть: 5 задач; критерий p90 &lt; 15 м.</a:t>
            </a:r>
          </a:p>
          <a:p>
            <a:r>
              <a:t>Время: 0:30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Суть: 4 блока; вычисления на земле.</a:t>
            </a:r>
          </a:p>
          <a:p>
            <a:r>
              <a:t>Время: 0:35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Суть: Типовой FPV-стенд; единая временная шкала.</a:t>
            </a:r>
          </a:p>
          <a:p>
            <a:r>
              <a:t>Время: 0:30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Суть: Референс .npz; состояние (s, v).</a:t>
            </a:r>
          </a:p>
          <a:p>
            <a:r>
              <a:t>Время: 0:30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Суть: PF — основной алгоритм; KFLayer2 поверх.</a:t>
            </a:r>
          </a:p>
          <a:p>
            <a:r>
              <a:t>Время: 0:30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Суть: YOLO→PnP→inject; модуль опционален.</a:t>
            </a:r>
          </a:p>
          <a:p>
            <a:r>
              <a:t>Время: 0:25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Суть: Модули; воспроизводимая сессия.</a:t>
            </a:r>
          </a:p>
          <a:p>
            <a:r>
              <a:t>Время: 0:40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Суть: Record и Replay с HUD и картой.</a:t>
            </a:r>
          </a:p>
          <a:p>
            <a:r>
              <a:t>Время: 0:40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Суть: Геопривязка; MAVLink; p90 vs p95/HEPU.</a:t>
            </a:r>
          </a:p>
          <a:p>
            <a:r>
              <a:t>Время: 0:40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Суть: p90; 12 экспериментов в 4 блоках.</a:t>
            </a:r>
          </a:p>
          <a:p>
            <a:r>
              <a:t>Время: 0:35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Суть: PF; cross-drone p90 = 7,8 м.</a:t>
            </a:r>
          </a:p>
          <a:p>
            <a:r>
              <a:t>Время: 0:45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Суть: Качество референса важнее same-drone.</a:t>
            </a:r>
          </a:p>
          <a:p>
            <a:r>
              <a:t>Время: 0:45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Суть: Real track OK; камера offline.</a:t>
            </a:r>
          </a:p>
          <a:p>
            <a:r>
              <a:t>Время: 0:50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Суть: Критерий выполнен; базовая конфигурация зафиксирована.</a:t>
            </a:r>
          </a:p>
          <a:p>
            <a:r>
              <a:t>Время: 0:35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Суть: Итог, ограничения, публикации.</a:t>
            </a:r>
          </a:p>
          <a:p>
            <a:r>
              <a:t>Время: 1:00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Программно-аппаратный комплекс отслеживания</a:t>
            </a:r>
            <a:br/>
            <a:r>
              <a:t>малоразмерных FPV-БВС (DCT)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DDEE"/>
                </a:solidFill>
                <a:latin typeface="Arial"/>
              </a:defRPr>
            </a:pPr>
            <a:r>
              <a:t>Выпускная квалификационная работа</a:t>
            </a:r>
          </a:p>
          <a:p>
            <a:pPr algn="ctr">
              <a:defRPr sz="1800">
                <a:solidFill>
                  <a:srgbClr val="CCDDEE"/>
                </a:solidFill>
                <a:latin typeface="Arial"/>
              </a:defRPr>
            </a:pPr>
          </a:p>
          <a:p>
            <a:pPr algn="ctr">
              <a:defRPr sz="1800">
                <a:solidFill>
                  <a:srgbClr val="CCDDEE"/>
                </a:solidFill>
                <a:latin typeface="Arial"/>
              </a:defRPr>
            </a:pPr>
            <a:r>
              <a:t>Автор: [ФИО]</a:t>
            </a:r>
          </a:p>
          <a:p>
            <a:pPr algn="ctr">
              <a:defRPr sz="1800">
                <a:solidFill>
                  <a:srgbClr val="CCDDEE"/>
                </a:solidFill>
                <a:latin typeface="Arial"/>
              </a:defRPr>
            </a:pPr>
            <a:r>
              <a:t>Руководитель: [ФИО, степень]</a:t>
            </a:r>
          </a:p>
          <a:p>
            <a:pPr algn="ctr">
              <a:defRPr sz="1800">
                <a:solidFill>
                  <a:srgbClr val="CCDDEE"/>
                </a:solidFill>
                <a:latin typeface="Arial"/>
              </a:defRPr>
            </a:pPr>
            <a:r>
              <a:t>НИУ — [название]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Проблема FPV-мониторинга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Блок 1–2 · ввод  ·  ⏱ 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Малоразмерный FPV-БВС может летать без бортовой навигации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Без координат нет контроля трассы и передачи в системы мониторинга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Уже доступны: RC-каналы пилота и видео с курсовой камеры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Задача: оценить положение на наземной станции, не дооснащая дрон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486400" cy="50292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79" y="5696712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НОВЫЙ: Пилот → БВС → ПК (DCT) → мониторинг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Почему не GPS / UWB / SLAM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Блок 1–2 · ввод  ·  ⏱ 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GPS/ГЛОНАСС — приёмник и телеметрия на борту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UWB, motion capture — маяки и подготовка площадки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Внешние камеры — поле зрения, освещение, скорость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SLAM / визуальная одометрия — нагрузка и нестабильная FPV-сцена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486400" cy="50292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79" y="5696712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Табл. 1 из ВКР (4–5 строк)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Решение: наземный комплекс DCT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Блок 1–2 · ввод  ·  ⏱ 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Сбор и синхронизация RC + видео на ПК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Локализация относительно заданной трассы (референс + PF)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Режимы Record (запись) и Replay (анализ без нового полёта)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Выход: координаты во внешнюю систему мониторинга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486400" cy="50292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79" y="5696712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Рис. 2 — C4 System Context (экспорт из draw.io)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Цель и задачи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Блок 1–2 · ввод  ·  ⏱ 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Цель: комплекс сбора, локализации и передачи координат БВС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(1) оборудование и сбор данных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(2) архитектура (3) данные sim/real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(4) отслеживание (5) интеграция с мониторингом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Критерий исследования: p90 ошибки &lt; 15 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486400" cy="50292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79" y="5696712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Табл. 3 из ВКР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Архитектура комплекса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Блок 3 · теория  ·  ⏱ 0:35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Четыре блока: RC, видео, DCT, интеграция с мониторингом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Внутри DCT: запись → воспроизведение → алгоритмы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Вычисления на наземной станции, борт без NAV-модуля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486400" cy="50292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79" y="5696712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Рис. 3 — C4 Container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Аппаратура и синхронизация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Блок 3 · теория  ·  ⏱ 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RC: EdgeTX/ELRS → приёмник → ESP32 → COM → DCT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Видео: FPV-камера → HDZero → захват на ПК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Все потоки на единой временной шкале (wall-clock + кадры)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486400" cy="50292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79" y="5696712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Рис. 7–8: rc_chain + video_chain (draw.io)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Модель трассы и состояния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Блок 3 · теория  ·  ⏱ 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Трасса: ворота + референсная траектория (файл .npz)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Состояние фильтра: (s, v) — положение вдоль дуги (м) и скорость (м/с)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RC-признаки сопоставляются с узлами референса (режим RC+Rate)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486400" cy="50292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79" y="5696712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Рис. 11 — ворота и референс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Particle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Блок 3 · теория  ·  ⏱ 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Частицы (s, v): predict → update по RC → resample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Циклический круг: положение по модулю длины трассы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Поверх PF — сглаживание KFLayer2 (не замена PF)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486400" cy="50292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79" y="5696712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Рис. 45 / pf_cycle.drawio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Камера в контуре локализации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Блок 3 · теория  ·  ⏱ 0:25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YOLO (ворота) → PnP → CameraObservation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inject_position_observation — байесовское обновление весов PF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Основной контур работает без камеры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486400" cy="50292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79" y="5696712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Рис. 46 / camera_observation.drawio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Структура программного комплекса DCT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Блок 4 · реализация  ·  ⏱ 0:40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Модули: session, replay, profiles, localization, camera, MAVLink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Сессия — самодостаточная папка (RC, видео, meta, observations)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Сбор данных отделён от алгоритмических экспериментов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486400" cy="50292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79" y="5696712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Рис. 49 — C4 Component / Прил. 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Интерфейс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Блок 4 · реализация  ·  ⏱ 0:40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Record: пилот/дрон/трасса, HUD, карта, видео, запись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Replay: повторный анализ и отладка локализации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Эксперименты без повторного полёта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486400" cy="50292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79" y="5696712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Рис. 9–10 — скриншоты GUI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Интеграция с «Небосвод»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Блок 4 · реализация  ·  ⏱ 0:40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Локальные координаты → WGS84 (origin, x, z)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MAVLink UDP → Nebosvod Connect → «Небосвод»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p90 — для алгоритмов; p95 — для HEPU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486400" cy="50292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79" y="5696712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Рис. 40 — integration_monitoring.drawio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Методика экспериментов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Блок 5 · эксперименты  ·  ⏱ 0:35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Метрика: p90_err_m (90-й перцентиль ошибки, м)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Критерий: p90 &lt; 15 м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Блоки: метод (1–4) → устойчивость (5–9) → real (10) → камера (11–12)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486400" cy="50292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79" y="5696712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Табл. 13 — воронка 4 блоков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Выбор и настройка метода (эксп. 1–4)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Блок 5 · эксперименты  ·  ⏱ 0:45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Эксп. 1: Particle Filter лучше HMM, DTW, NN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Эксп. 2–3: режим RC+Rate, веса каналов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Эксп. 4: obs_sigma=2, pnv=8 → cross-drone p90 = 7,8 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486400" cy="50292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tho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124712"/>
            <a:ext cx="5340096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79" y="5696712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Рис. 14, 18–19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Устойчивость и переносимость (эксп. 5–9)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Блок 5 · эксперименты  ·  ⏱ 0:45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Важнее качество референса, чем совпадение дрона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Кросс-пилот: переносимость с ограничениями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Новые трассы: mini-sweep; дрейф по времени не выявлен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486400" cy="50292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ame_vs_cross_drone_r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124712"/>
            <a:ext cx="5340096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79" y="5696712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Рис. 20,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Реальный трек и камера (эксп. 10–12)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Блок 5 · эксперименты  ·  ⏱ 0:50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Эксп. 10: RC/PF вне симулятора (real track)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Эксп. 11: моделирование слияния — снижение p90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Эксп. 12: YOLO/PnP + CamKF; ограничение: offline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486400" cy="50292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arian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124712"/>
            <a:ext cx="5340096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79" y="5696712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Рис. 30–31,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Итоги экспериментальной части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Блок 5 · эксперименты  ·  ⏱ 0:35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p90 &lt; 15 м — выполнен в ключевых сценариях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База: RC+Rate, PF, pnv=8, снижение throttle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Камера — усиление; нужны real-time и больший датасет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486400" cy="50292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ptim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124712"/>
            <a:ext cx="5340096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79" y="5696712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3 плашки с цифрами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Блок 6 · заключение  ·  ⏱ 1:00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Создан DCT: сбор, синхронизация, PF, камера, MAVLink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Доказано: RC/PF; p90 &lt; 15 м; реальный трек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Ограничения: геопривязка, MAVLink, камера offline, p95/HEPU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Публикации / выступления / акты: [вставить факты]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486400" cy="5029200"/>
          </a:xfrm>
          <a:prstGeom prst="roundRect">
            <a:avLst/>
          </a:prstGeom>
          <a:solidFill>
            <a:srgbClr val="E8EDF2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79" y="5696712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/>
              </a:defRPr>
            </a:pPr>
            <a:r>
              <a:t>Без графиков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03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</a:defRPr>
            </a:pPr>
            <a:r>
              <a:t>Контакты</a:t>
            </a:r>
          </a:p>
          <a:p>
            <a:pPr algn="ctr">
              <a:defRPr sz="2000">
                <a:solidFill>
                  <a:srgbClr val="222222"/>
                </a:solidFill>
              </a:defRPr>
            </a:pPr>
            <a:r>
              <a:t>email@example.com</a:t>
            </a:r>
          </a:p>
          <a:p>
            <a:pPr algn="ctr">
              <a:defRPr sz="2000">
                <a:solidFill>
                  <a:srgbClr val="222222"/>
                </a:solidFill>
              </a:defRPr>
            </a:pPr>
            <a:r>
              <a:t>Telegram: @username</a:t>
            </a:r>
          </a:p>
          <a:p>
            <a:pPr algn="ctr">
              <a:defRPr sz="2000">
                <a:solidFill>
                  <a:srgbClr val="222222"/>
                </a:solidFill>
              </a:defRPr>
            </a:pPr>
            <a:r>
              <a:t>github.com/...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