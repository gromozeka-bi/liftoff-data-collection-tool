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7" r:id="rId2"/>
    <p:sldId id="297" r:id="rId3"/>
    <p:sldId id="336" r:id="rId4"/>
    <p:sldId id="338" r:id="rId5"/>
    <p:sldId id="337" r:id="rId6"/>
    <p:sldId id="342" r:id="rId7"/>
    <p:sldId id="343" r:id="rId8"/>
    <p:sldId id="349" r:id="rId9"/>
    <p:sldId id="344" r:id="rId10"/>
    <p:sldId id="323" r:id="rId11"/>
    <p:sldId id="347" r:id="rId12"/>
    <p:sldId id="346" r:id="rId13"/>
    <p:sldId id="341" r:id="rId14"/>
    <p:sldId id="340" r:id="rId15"/>
    <p:sldId id="339" r:id="rId16"/>
    <p:sldId id="348" r:id="rId17"/>
    <p:sldId id="292" r:id="rId18"/>
    <p:sldId id="329" r:id="rId19"/>
    <p:sldId id="318" r:id="rId20"/>
    <p:sldId id="330" r:id="rId21"/>
    <p:sldId id="317" r:id="rId22"/>
    <p:sldId id="319" r:id="rId23"/>
    <p:sldId id="321" r:id="rId24"/>
    <p:sldId id="332" r:id="rId25"/>
    <p:sldId id="333" r:id="rId26"/>
    <p:sldId id="334" r:id="rId27"/>
    <p:sldId id="324" r:id="rId28"/>
    <p:sldId id="326" r:id="rId29"/>
    <p:sldId id="328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C3679-37FA-463F-BBE0-3397DA5C05B0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244EF-206B-4C3D-84D6-AA67BD153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5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244EF-206B-4C3D-84D6-AA67BD1533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76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E4DF2-A352-AB65-0EE0-EAF51545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D226D0-65E7-D55F-FE11-E0A244056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DEE95-E01F-FD55-AFBF-A82E618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67D5F-02A7-4A83-C4A2-2B6FC997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C7B0E-30CD-857C-AF9D-825C1A23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3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4EC09-9C5B-7D96-30FC-04A8CF1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9493F-2547-DA35-2B91-8069F40E4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5514A-E09E-8FC3-1912-B3AE225C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80C9BE-2E58-AADA-16FA-C5993972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9A7AB-3B2C-4524-E960-04ACAD8B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7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12A01-F25E-6B9E-E99A-91EBAB7B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62AA44-5596-873D-205D-7F12D0A0B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46054-F8DF-7E3D-B158-9ACDB375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1CEBAE-0AC6-E1E6-B500-6E6D0CB2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EC1FD9-B85B-B89F-A856-8F3C21C8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15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F07F1-BCF4-5BFF-3889-71B5D454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5DE1-9C19-9103-02C5-1AB8067F6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7A90FA-1B01-E7A1-A089-9D8FB3A5A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D88EA8-AF71-869F-96DC-0ACF6849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8ADE58-86E6-6426-40AE-3D8E56DB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04D35-1C68-3883-5978-9C81E60F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6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7A91-8F00-B9E9-F940-D676F29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2D52B4-7DB0-51B1-0E2C-5D244575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05FBA8-9A60-1AE2-49A4-CAEE6B45F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E99938-F383-97A8-691D-1E36F8219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478C05-9D2E-E217-F097-DF9E7171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8CF75F-AF99-B997-CEFB-CF562904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D62C2D-60F9-8EEC-1988-AC080D24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3FC2F6-55B6-BEA4-9457-2BD9956D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8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E9F03-49C0-32D6-0918-5AFE8EE1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D2D6FE-EE15-CD1A-96FB-EB4EB281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146442-3A2B-F73C-B6B8-A1DCE35D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966552-CD63-E5C4-4C85-2131BE48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2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4D6A1A-9D98-19F1-A94B-BDF647F1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69C8B3-8EAD-D2FF-08B6-97B37408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792BF6-C27C-3868-5B9D-98A82CAB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5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879F2-9547-3C0B-D1E6-EF0D06F4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8D36B-FF9E-0F3B-6DD6-B3887490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C1CC49-4134-2F5E-024B-0E2F5BC72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844674-E2B4-A2E3-5EE4-FF6230F4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ED882E-9358-B225-C604-57D5841A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E20930-C266-21EF-B479-A8BEBD58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99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407EC-029E-A5CA-B887-89E00DC5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724AC6-967B-9ABD-74D3-3CE59CA35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EB802F-55AA-0D33-FB0C-2C2F8AFA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1532BE-19EB-90B0-D966-04260994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2DD2D9-687C-6365-D31A-2E59F632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4BE98-6D94-FD4B-F5A9-AA130AFC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26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62A31-BA85-BADF-2F53-4594BCAC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DB95DD-747F-188A-731F-7D76C041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7957D4-6A94-D946-D2C4-9A31E2DF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C1EC92-37C3-E29B-7EE4-37E24602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77957B-EE9C-E3C0-5E29-7F8B7D67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37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34CC22-6EBD-7F0D-4ACE-C624234E6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AA80A8-DDE5-3F3A-210A-C12F0424E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BBCEC-6518-1703-B618-8DAF0485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DF217-686A-2395-B84D-6B1ADA48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012CB-C587-AB15-4FF6-869B95A2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83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FCF90-8AC4-337C-A510-ECF54357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4F354-430D-C8A3-9DD1-70F36CEE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6136E3-D57D-CF3F-E410-129D289E1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22F89-142C-43F6-7CC0-41F1B6200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0A4A5-7B07-D230-CC96-38A66F1DE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67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BE2B0D7-0E27-48E3-929E-48043968E2FA}"/>
              </a:ext>
            </a:extLst>
          </p:cNvPr>
          <p:cNvSpPr txBox="1">
            <a:spLocks/>
          </p:cNvSpPr>
          <p:nvPr/>
        </p:nvSpPr>
        <p:spPr>
          <a:xfrm>
            <a:off x="1308100" y="-1"/>
            <a:ext cx="9575799" cy="2222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2000" dirty="0"/>
              <a:t>Министерство науки и высшего образования Российской Федерации</a:t>
            </a:r>
            <a:br>
              <a:rPr lang="ru-RU" sz="2000" dirty="0"/>
            </a:br>
            <a:r>
              <a:rPr lang="ru-RU" sz="2000" dirty="0"/>
              <a:t>Федеральное государственное автономное образовательное учреждение 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высшего образования</a:t>
            </a:r>
            <a:br>
              <a:rPr lang="ru-RU" sz="2000" dirty="0"/>
            </a:br>
            <a:r>
              <a:rPr lang="ru-RU" sz="2000" dirty="0"/>
              <a:t>«Московский авиационный институт (национальный исследовательский университет)»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(МАИ)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A7B9310-9BE3-42DE-9A60-ADF950BBF270}"/>
              </a:ext>
            </a:extLst>
          </p:cNvPr>
          <p:cNvSpPr txBox="1">
            <a:spLocks/>
          </p:cNvSpPr>
          <p:nvPr/>
        </p:nvSpPr>
        <p:spPr>
          <a:xfrm>
            <a:off x="3376613" y="4502989"/>
            <a:ext cx="8156575" cy="23550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b="1" u="sng" dirty="0"/>
              <a:t>Выполнил: </a:t>
            </a:r>
          </a:p>
          <a:p>
            <a:pPr algn="r"/>
            <a:r>
              <a:rPr lang="ru-RU" sz="2000" dirty="0"/>
              <a:t>студент группы М3О-412Б-22 Теленков К.</a:t>
            </a:r>
            <a:r>
              <a:rPr lang="en-US" sz="2000" dirty="0"/>
              <a:t> </a:t>
            </a:r>
            <a:r>
              <a:rPr lang="ru-RU" sz="2000" dirty="0"/>
              <a:t>Д.</a:t>
            </a:r>
          </a:p>
          <a:p>
            <a:pPr algn="r"/>
            <a:r>
              <a:rPr lang="ru-RU" sz="2000" b="1" u="sng" dirty="0"/>
              <a:t>Научный руководитель: </a:t>
            </a:r>
          </a:p>
          <a:p>
            <a:pPr algn="r"/>
            <a:r>
              <a:rPr lang="ru-RU" sz="2000" dirty="0"/>
              <a:t>к.т.н., доцент, доцент кафедры 307 Склеймин Ю.</a:t>
            </a:r>
            <a:r>
              <a:rPr lang="en-US" sz="2000" dirty="0"/>
              <a:t> </a:t>
            </a:r>
            <a:r>
              <a:rPr lang="ru-RU" sz="2000" dirty="0"/>
              <a:t>Б.</a:t>
            </a:r>
          </a:p>
          <a:p>
            <a:pPr algn="r"/>
            <a:r>
              <a:rPr lang="ru-RU" sz="2000" b="1" u="sng" dirty="0"/>
              <a:t>Консультант: </a:t>
            </a:r>
          </a:p>
          <a:p>
            <a:pPr algn="r"/>
            <a:r>
              <a:rPr lang="ru-RU" sz="2000" dirty="0"/>
              <a:t>Зайцев М. Д.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42624F-A2C9-4DE1-8E3C-71E411C81C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470223-B86F-4DD5-A33D-9A9912323163}"/>
              </a:ext>
            </a:extLst>
          </p:cNvPr>
          <p:cNvSpPr txBox="1">
            <a:spLocks/>
          </p:cNvSpPr>
          <p:nvPr/>
        </p:nvSpPr>
        <p:spPr>
          <a:xfrm>
            <a:off x="511031" y="2493896"/>
            <a:ext cx="10874375" cy="2159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Разработка системы классификации текстовых описаний видов разрешённого использования земельных участков</a:t>
            </a:r>
          </a:p>
        </p:txBody>
      </p:sp>
    </p:spTree>
    <p:extLst>
      <p:ext uri="{BB962C8B-B14F-4D97-AF65-F5344CB8AC3E}">
        <p14:creationId xmlns:p14="http://schemas.microsoft.com/office/powerpoint/2010/main" val="124113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F422-7218-79ED-F142-43564EE2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044CF8F2-94D8-7B13-1752-AC8E32DC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Проблематика и актуальность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EBD920C-7EAB-3F3B-AEDA-2CD2F83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A064CA-979C-23C6-A6BC-378D4979A8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706CAB-6266-7554-EFA8-095579FE4C8E}"/>
              </a:ext>
            </a:extLst>
          </p:cNvPr>
          <p:cNvSpPr txBox="1"/>
          <p:nvPr/>
        </p:nvSpPr>
        <p:spPr>
          <a:xfrm>
            <a:off x="1051999" y="1238934"/>
            <a:ext cx="10088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ВРИ — вид разрешённого использования: что можно делать на участке (жильё, торговля, дороги и т.д.)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8474C4-6B87-D3E4-3C94-220A266B4D27}"/>
              </a:ext>
            </a:extLst>
          </p:cNvPr>
          <p:cNvSpPr txBox="1"/>
          <p:nvPr/>
        </p:nvSpPr>
        <p:spPr>
          <a:xfrm>
            <a:off x="1051998" y="5619066"/>
            <a:ext cx="10088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400" dirty="0"/>
              <a:t>Одна строка — может быть </a:t>
            </a:r>
            <a:r>
              <a:rPr lang="ru-RU" sz="2400" b="1" dirty="0"/>
              <a:t>несколько</a:t>
            </a:r>
            <a:r>
              <a:rPr lang="ru-RU" sz="2400" dirty="0"/>
              <a:t> кодов ВРИ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753B22B-9695-FB7B-7B54-4DF7FFAA8E23}"/>
              </a:ext>
            </a:extLst>
          </p:cNvPr>
          <p:cNvSpPr/>
          <p:nvPr/>
        </p:nvSpPr>
        <p:spPr>
          <a:xfrm>
            <a:off x="974908" y="4646783"/>
            <a:ext cx="2469776" cy="6902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Текст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82C8EDD-7D99-DF76-C29A-C50F3BE62727}"/>
              </a:ext>
            </a:extLst>
          </p:cNvPr>
          <p:cNvSpPr/>
          <p:nvPr/>
        </p:nvSpPr>
        <p:spPr>
          <a:xfrm>
            <a:off x="4861109" y="4653164"/>
            <a:ext cx="2469777" cy="6902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Код ВРИ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A2C15EE-6ECE-3248-C77B-D9E92E076FB2}"/>
              </a:ext>
            </a:extLst>
          </p:cNvPr>
          <p:cNvSpPr/>
          <p:nvPr/>
        </p:nvSpPr>
        <p:spPr>
          <a:xfrm>
            <a:off x="8747311" y="4646783"/>
            <a:ext cx="2469777" cy="6902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Правила и аналитика</a:t>
            </a:r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F08476A1-9969-2144-DFD7-D184873C9CAD}"/>
              </a:ext>
            </a:extLst>
          </p:cNvPr>
          <p:cNvSpPr/>
          <p:nvPr/>
        </p:nvSpPr>
        <p:spPr>
          <a:xfrm>
            <a:off x="3663692" y="4749608"/>
            <a:ext cx="978408" cy="484632"/>
          </a:xfrm>
          <a:prstGeom prst="rightArrow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право 23">
            <a:extLst>
              <a:ext uri="{FF2B5EF4-FFF2-40B4-BE49-F238E27FC236}">
                <a16:creationId xmlns:a16="http://schemas.microsoft.com/office/drawing/2014/main" id="{154CFAE9-718C-54FE-B902-7A1922085EE5}"/>
              </a:ext>
            </a:extLst>
          </p:cNvPr>
          <p:cNvSpPr/>
          <p:nvPr/>
        </p:nvSpPr>
        <p:spPr>
          <a:xfrm>
            <a:off x="7549894" y="4755989"/>
            <a:ext cx="978408" cy="48463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E30501-9445-1026-971E-819324320580}"/>
              </a:ext>
            </a:extLst>
          </p:cNvPr>
          <p:cNvSpPr txBox="1"/>
          <p:nvPr/>
        </p:nvSpPr>
        <p:spPr>
          <a:xfrm>
            <a:off x="1" y="22643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400" i="1" dirty="0"/>
              <a:t>Цифровизация</a:t>
            </a:r>
            <a:endParaRPr lang="ru-RU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4CC0A6-6D37-FBB3-52C3-F51A3D97BD3E}"/>
              </a:ext>
            </a:extLst>
          </p:cNvPr>
          <p:cNvSpPr txBox="1"/>
          <p:nvPr/>
        </p:nvSpPr>
        <p:spPr>
          <a:xfrm>
            <a:off x="6096000" y="226438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400" i="1" dirty="0"/>
              <a:t>Автоматизация</a:t>
            </a:r>
            <a:endParaRPr lang="ru-RU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54BF68-E124-1509-5B09-AB38E0432E40}"/>
              </a:ext>
            </a:extLst>
          </p:cNvPr>
          <p:cNvSpPr txBox="1"/>
          <p:nvPr/>
        </p:nvSpPr>
        <p:spPr>
          <a:xfrm>
            <a:off x="6786282" y="3040082"/>
            <a:ext cx="435371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000" dirty="0"/>
              <a:t>Для </a:t>
            </a:r>
            <a:r>
              <a:rPr lang="ru-RU" sz="2000" b="1" dirty="0"/>
              <a:t>правил</a:t>
            </a:r>
            <a:r>
              <a:rPr lang="ru-RU" sz="2000" dirty="0"/>
              <a:t> и </a:t>
            </a:r>
            <a:r>
              <a:rPr lang="ru-RU" sz="2000" b="1" dirty="0"/>
              <a:t>цепочек контроля</a:t>
            </a:r>
            <a:r>
              <a:rPr lang="ru-RU" sz="2000" dirty="0"/>
              <a:t> нужен </a:t>
            </a:r>
            <a:r>
              <a:rPr lang="ru-RU" sz="2000" b="1" dirty="0"/>
              <a:t>код ВРИ</a:t>
            </a:r>
            <a:r>
              <a:rPr lang="ru-RU" sz="2000" dirty="0"/>
              <a:t>, а не только текст из выписки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CCD00C-B393-BD00-FC15-4A809DB147DB}"/>
              </a:ext>
            </a:extLst>
          </p:cNvPr>
          <p:cNvSpPr txBox="1"/>
          <p:nvPr/>
        </p:nvSpPr>
        <p:spPr>
          <a:xfrm>
            <a:off x="1051998" y="3040082"/>
            <a:ext cx="43537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000" b="1" dirty="0"/>
              <a:t>Москва 2030 умный город.</a:t>
            </a:r>
            <a:r>
              <a:rPr lang="ru-RU" sz="2000" dirty="0"/>
              <a:t> Реестры и документы переносятся в </a:t>
            </a:r>
            <a:r>
              <a:rPr lang="ru-RU" sz="2000" b="1" dirty="0"/>
              <a:t>информационные системы</a:t>
            </a:r>
            <a:endParaRPr lang="ru-RU" sz="2000"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3AF205D-B05D-EA27-A061-73DB6633F913}"/>
              </a:ext>
            </a:extLst>
          </p:cNvPr>
          <p:cNvCxnSpPr>
            <a:cxnSpLocks/>
          </p:cNvCxnSpPr>
          <p:nvPr/>
        </p:nvCxnSpPr>
        <p:spPr>
          <a:xfrm>
            <a:off x="1051998" y="2726050"/>
            <a:ext cx="4353717" cy="0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A0721373-0E01-C937-216E-D3324AB0C19C}"/>
              </a:ext>
            </a:extLst>
          </p:cNvPr>
          <p:cNvCxnSpPr>
            <a:cxnSpLocks/>
          </p:cNvCxnSpPr>
          <p:nvPr/>
        </p:nvCxnSpPr>
        <p:spPr>
          <a:xfrm>
            <a:off x="6786282" y="2726050"/>
            <a:ext cx="4353717" cy="0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3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79CF-55D7-AC09-1AC9-5F2299EE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71F750B-91CB-38C0-C490-77FB83DA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Цель и задачи</a:t>
            </a:r>
            <a:endParaRPr lang="ru-RU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b="1" dirty="0"/>
              <a:t>Цель</a:t>
            </a:r>
            <a:r>
              <a:rPr lang="en-US" dirty="0"/>
              <a:t>: </a:t>
            </a:r>
            <a:r>
              <a:rPr lang="ru-RU" dirty="0"/>
              <a:t>Разработать систему классификации текстовых описаний ВРИ земельных участков</a:t>
            </a:r>
            <a:r>
              <a:rPr lang="en-US" dirty="0"/>
              <a:t>.</a:t>
            </a:r>
            <a:br>
              <a:rPr lang="en-US" dirty="0"/>
            </a:b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454AD0C-E61F-113E-E802-3BF0AE54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7A8DA2-858D-9016-8B39-1F988298E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4B7A53-BE6D-BEDA-5C0A-6B01982263AC}"/>
              </a:ext>
            </a:extLst>
          </p:cNvPr>
          <p:cNvSpPr txBox="1"/>
          <p:nvPr/>
        </p:nvSpPr>
        <p:spPr>
          <a:xfrm>
            <a:off x="1066801" y="2681709"/>
            <a:ext cx="1005839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800" b="1" dirty="0"/>
              <a:t>	Задачи</a:t>
            </a:r>
            <a:r>
              <a:rPr lang="en-US" sz="2800" dirty="0"/>
              <a:t>:</a:t>
            </a:r>
            <a:endParaRPr lang="ru-RU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Сбор данных о </a:t>
            </a:r>
            <a:r>
              <a:rPr lang="ru-RU" sz="2800" b="1" dirty="0"/>
              <a:t>текстах ВРИ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Построить </a:t>
            </a:r>
            <a:r>
              <a:rPr lang="ru-RU" sz="2800" b="1" dirty="0"/>
              <a:t>размеченный датасет</a:t>
            </a:r>
            <a:endParaRPr lang="ru-RU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Подготовить </a:t>
            </a:r>
            <a:r>
              <a:rPr lang="ru-RU" sz="2800" b="1" dirty="0"/>
              <a:t>обучающую выборку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Провести </a:t>
            </a:r>
            <a:r>
              <a:rPr lang="ru-RU" sz="2800" b="1" dirty="0"/>
              <a:t>сравнение методов</a:t>
            </a:r>
            <a:r>
              <a:rPr lang="ru-RU" sz="2800" dirty="0"/>
              <a:t> классификации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Реализовать </a:t>
            </a:r>
            <a:r>
              <a:rPr lang="ru-RU" sz="2800" b="1" dirty="0"/>
              <a:t>сервис</a:t>
            </a:r>
            <a:r>
              <a:rPr lang="ru-RU" sz="2800" dirty="0"/>
              <a:t>: веб-интерфейс классификации, </a:t>
            </a:r>
            <a:r>
              <a:rPr lang="ru-RU" sz="2800" b="1" dirty="0"/>
              <a:t>REST API</a:t>
            </a:r>
            <a:r>
              <a:rPr lang="ru-RU" sz="2800" dirty="0"/>
              <a:t> для интеграции, документация API, автотесты.</a:t>
            </a:r>
          </a:p>
        </p:txBody>
      </p:sp>
    </p:spTree>
    <p:extLst>
      <p:ext uri="{BB962C8B-B14F-4D97-AF65-F5344CB8AC3E}">
        <p14:creationId xmlns:p14="http://schemas.microsoft.com/office/powerpoint/2010/main" val="232625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87B5-B037-90D7-3E4D-BBE9D857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B2126A3-B4C7-96A3-51ED-C27A5CD4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Классификатор ВРИ 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26E624E-3B85-B8D3-7DDC-73EA2C8E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C6EA04-6C1C-7776-F832-669CFCB2E6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51D7A-7467-8697-54CE-2DBDC1150811}"/>
              </a:ext>
            </a:extLst>
          </p:cNvPr>
          <p:cNvSpPr txBox="1"/>
          <p:nvPr/>
        </p:nvSpPr>
        <p:spPr>
          <a:xfrm>
            <a:off x="332022" y="5905902"/>
            <a:ext cx="9735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https://normativ.kontur.ru/document?moduleId=1&amp;documentId=505539#l0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1E179-B90B-356F-C2F5-342C826DE23E}"/>
              </a:ext>
            </a:extLst>
          </p:cNvPr>
          <p:cNvSpPr txBox="1"/>
          <p:nvPr/>
        </p:nvSpPr>
        <p:spPr>
          <a:xfrm>
            <a:off x="1053353" y="1676225"/>
            <a:ext cx="10085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/>
              <a:t>Приказ Росреестра</a:t>
            </a:r>
            <a:r>
              <a:rPr lang="ru-RU" sz="2800" dirty="0"/>
              <a:t> об утверждении </a:t>
            </a:r>
            <a:r>
              <a:rPr lang="ru-RU" sz="2800" b="1" dirty="0"/>
              <a:t>классификатора</a:t>
            </a:r>
            <a:r>
              <a:rPr lang="ru-RU" sz="2800" dirty="0"/>
              <a:t> ВРИ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8AD5D-DC51-4210-8310-B68FC94C525A}"/>
              </a:ext>
            </a:extLst>
          </p:cNvPr>
          <p:cNvSpPr txBox="1"/>
          <p:nvPr/>
        </p:nvSpPr>
        <p:spPr>
          <a:xfrm>
            <a:off x="1053353" y="3515684"/>
            <a:ext cx="100852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Контур.Норматив</a:t>
            </a:r>
            <a:r>
              <a:rPr lang="ru-RU" sz="2800" dirty="0"/>
              <a:t> → </a:t>
            </a:r>
            <a:r>
              <a:rPr lang="ru-RU" sz="2800" b="1" dirty="0"/>
              <a:t>спарсил</a:t>
            </a:r>
            <a:r>
              <a:rPr lang="ru-RU" sz="2800" dirty="0"/>
              <a:t> в </a:t>
            </a:r>
            <a:r>
              <a:rPr lang="ru-RU" sz="2800" b="1" dirty="0"/>
              <a:t>Excel </a:t>
            </a:r>
            <a:r>
              <a:rPr lang="ru-RU" sz="2800" dirty="0"/>
              <a:t>таблицу в формат</a:t>
            </a:r>
            <a:r>
              <a:rPr lang="en-US" sz="2800" dirty="0"/>
              <a:t>:</a:t>
            </a:r>
            <a:endParaRPr lang="ru-RU" sz="2800" dirty="0"/>
          </a:p>
          <a:p>
            <a:pPr algn="ctr"/>
            <a:r>
              <a:rPr lang="ru-RU" sz="2800" b="1" dirty="0"/>
              <a:t>код | наименование | описание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757A1-FDBF-5D87-C700-C8A5EC271CC2}"/>
              </a:ext>
            </a:extLst>
          </p:cNvPr>
          <p:cNvSpPr txBox="1"/>
          <p:nvPr/>
        </p:nvSpPr>
        <p:spPr>
          <a:xfrm>
            <a:off x="1053353" y="4668073"/>
            <a:ext cx="10085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Всего — </a:t>
            </a:r>
            <a:r>
              <a:rPr lang="ru-RU" sz="2800" b="1" dirty="0"/>
              <a:t>156</a:t>
            </a:r>
            <a:r>
              <a:rPr lang="ru-RU" sz="2800" dirty="0"/>
              <a:t> кодов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B749B54-B228-4FFB-2190-B9613B4A0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257" y="1978393"/>
            <a:ext cx="6107486" cy="17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2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E6BD-130B-1C0F-7D00-1F9C3A56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1FE783B-AA86-00F6-A7BE-796B5FB1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Источник текстов — НСПД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6CAFB6-8264-2100-9B4B-D979415C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0FA625-0234-9214-9C1A-E3CC96961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C30596-4A08-31FF-3A59-48E4B8A1B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324" y="1245021"/>
            <a:ext cx="3187011" cy="17929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F4FD71-CB15-C6F6-913E-B5736D4712B9}"/>
              </a:ext>
            </a:extLst>
          </p:cNvPr>
          <p:cNvSpPr txBox="1"/>
          <p:nvPr/>
        </p:nvSpPr>
        <p:spPr>
          <a:xfrm>
            <a:off x="5414682" y="1664437"/>
            <a:ext cx="5713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b="1" dirty="0"/>
              <a:t>НСПД</a:t>
            </a:r>
            <a:r>
              <a:rPr lang="ru-RU" sz="2800" dirty="0"/>
              <a:t> — Национальная система пространственных данных.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C2AF9-695C-1D7E-CFC4-A580F983447A}"/>
              </a:ext>
            </a:extLst>
          </p:cNvPr>
          <p:cNvSpPr txBox="1"/>
          <p:nvPr/>
        </p:nvSpPr>
        <p:spPr>
          <a:xfrm>
            <a:off x="1057835" y="2929322"/>
            <a:ext cx="43568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Открытого официального API нет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A5F83-60D0-E69F-C9C4-BA0537D07A21}"/>
              </a:ext>
            </a:extLst>
          </p:cNvPr>
          <p:cNvSpPr txBox="1"/>
          <p:nvPr/>
        </p:nvSpPr>
        <p:spPr>
          <a:xfrm>
            <a:off x="1057835" y="3923089"/>
            <a:ext cx="100705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Python-библиотека NSPD-request</a:t>
            </a:r>
            <a:r>
              <a:rPr lang="ru-RU" sz="2800" dirty="0"/>
              <a:t>: </a:t>
            </a:r>
            <a:br>
              <a:rPr lang="en-US" sz="2800" dirty="0"/>
            </a:br>
            <a:r>
              <a:rPr lang="ru-RU" sz="2800" dirty="0"/>
              <a:t>упрощённый доступ к НСПД</a:t>
            </a:r>
            <a:r>
              <a:rPr lang="en-US" sz="2800" dirty="0"/>
              <a:t>: </a:t>
            </a:r>
            <a:r>
              <a:rPr lang="ru-RU" sz="2800" dirty="0"/>
              <a:t>по </a:t>
            </a:r>
            <a:r>
              <a:rPr lang="ru-RU" sz="2800" b="1" dirty="0"/>
              <a:t>кадастровым номерам</a:t>
            </a:r>
            <a:r>
              <a:rPr lang="en-US" sz="2800" dirty="0"/>
              <a:t>;</a:t>
            </a:r>
            <a:r>
              <a:rPr lang="ru-RU" sz="2800" dirty="0"/>
              <a:t> выгрузки </a:t>
            </a:r>
            <a:r>
              <a:rPr lang="ru-RU" sz="2800" b="1" dirty="0"/>
              <a:t>ЗУ</a:t>
            </a:r>
            <a:r>
              <a:rPr lang="ru-RU" sz="2800" dirty="0"/>
              <a:t>, </a:t>
            </a:r>
            <a:r>
              <a:rPr lang="ru-RU" sz="2800" b="1" dirty="0"/>
              <a:t>кадастровых округов </a:t>
            </a:r>
            <a:r>
              <a:rPr lang="ru-RU" sz="2800" dirty="0"/>
              <a:t>— </a:t>
            </a:r>
            <a:r>
              <a:rPr lang="ru-RU" sz="2800" b="1" dirty="0"/>
              <a:t>по координатам</a:t>
            </a:r>
            <a:endParaRPr lang="ru-RU" sz="2800" dirty="0"/>
          </a:p>
          <a:p>
            <a:endParaRPr lang="ru-RU" sz="28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22677E0-261F-E27D-580E-F8793EB58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171" y="2779356"/>
            <a:ext cx="5225758" cy="11664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78998F-0EBF-1711-7AC6-630C1DAA517E}"/>
              </a:ext>
            </a:extLst>
          </p:cNvPr>
          <p:cNvSpPr txBox="1"/>
          <p:nvPr/>
        </p:nvSpPr>
        <p:spPr>
          <a:xfrm>
            <a:off x="332022" y="5905902"/>
            <a:ext cx="9735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https://github.com/Logar1t/NSPD-request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0ED842-86F7-9CFB-9F0E-5E67747FC6A6}"/>
              </a:ext>
            </a:extLst>
          </p:cNvPr>
          <p:cNvSpPr txBox="1"/>
          <p:nvPr/>
        </p:nvSpPr>
        <p:spPr>
          <a:xfrm>
            <a:off x="332022" y="5604794"/>
            <a:ext cx="9735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https://nspd.gov.ru/map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04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08BD-A581-B5D1-FDE3-4172E329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2672EC76-FA53-E260-97D4-CB7F1647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Подготовка данных для обучения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1B108E4-AE3E-7F43-6004-35E63E4C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9A61D5-8216-16D4-88EC-343E43553B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A6603C3-4234-F14E-9C35-D0FB2922A4C8}"/>
              </a:ext>
            </a:extLst>
          </p:cNvPr>
          <p:cNvSpPr/>
          <p:nvPr/>
        </p:nvSpPr>
        <p:spPr>
          <a:xfrm>
            <a:off x="1065011" y="1577785"/>
            <a:ext cx="1678014" cy="7261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NSPD-request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9D01181-6F0E-996A-839F-E031F1C650A1}"/>
              </a:ext>
            </a:extLst>
          </p:cNvPr>
          <p:cNvSpPr/>
          <p:nvPr/>
        </p:nvSpPr>
        <p:spPr>
          <a:xfrm>
            <a:off x="3521055" y="1577785"/>
            <a:ext cx="1760133" cy="7261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Разметка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5E90F2-9C25-CE91-60AA-0648DB860162}"/>
              </a:ext>
            </a:extLst>
          </p:cNvPr>
          <p:cNvSpPr/>
          <p:nvPr/>
        </p:nvSpPr>
        <p:spPr>
          <a:xfrm>
            <a:off x="6095999" y="1577784"/>
            <a:ext cx="1760132" cy="7261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Балансировка 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007C70E-D9F5-A047-FD1D-AAA95BC70ED5}"/>
              </a:ext>
            </a:extLst>
          </p:cNvPr>
          <p:cNvSpPr/>
          <p:nvPr/>
        </p:nvSpPr>
        <p:spPr>
          <a:xfrm>
            <a:off x="8592587" y="1600189"/>
            <a:ext cx="2534402" cy="7261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Обучающая выборка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5357B-7DAF-2B83-60AD-CAE496C39ABA}"/>
              </a:ext>
            </a:extLst>
          </p:cNvPr>
          <p:cNvSpPr txBox="1"/>
          <p:nvPr/>
        </p:nvSpPr>
        <p:spPr>
          <a:xfrm>
            <a:off x="1065011" y="2434788"/>
            <a:ext cx="1678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Выгрузка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B04D7-C42E-1EF1-3E87-1FAA961EC06C}"/>
              </a:ext>
            </a:extLst>
          </p:cNvPr>
          <p:cNvSpPr txBox="1"/>
          <p:nvPr/>
        </p:nvSpPr>
        <p:spPr>
          <a:xfrm>
            <a:off x="3168765" y="2434788"/>
            <a:ext cx="232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По справочнику 156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454125-FF6D-8361-1562-A6AB25338107}"/>
              </a:ext>
            </a:extLst>
          </p:cNvPr>
          <p:cNvSpPr txBox="1"/>
          <p:nvPr/>
        </p:nvSpPr>
        <p:spPr>
          <a:xfrm>
            <a:off x="5840247" y="2434788"/>
            <a:ext cx="2236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(~1500:1 → ~13:1)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2A6C54-9F40-9F72-07C4-F9E98FBFDAF9}"/>
              </a:ext>
            </a:extLst>
          </p:cNvPr>
          <p:cNvSpPr txBox="1"/>
          <p:nvPr/>
        </p:nvSpPr>
        <p:spPr>
          <a:xfrm>
            <a:off x="8592587" y="2437131"/>
            <a:ext cx="253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29 361 пример</a:t>
            </a:r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5ECD55B9-E0C8-4D7E-C1E8-2D92C03D939C}"/>
              </a:ext>
            </a:extLst>
          </p:cNvPr>
          <p:cNvSpPr/>
          <p:nvPr/>
        </p:nvSpPr>
        <p:spPr>
          <a:xfrm>
            <a:off x="2908225" y="1697937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трелка: вправо 26">
            <a:extLst>
              <a:ext uri="{FF2B5EF4-FFF2-40B4-BE49-F238E27FC236}">
                <a16:creationId xmlns:a16="http://schemas.microsoft.com/office/drawing/2014/main" id="{8DED7EC8-B754-F98A-E8A7-CAC16DC5F9B7}"/>
              </a:ext>
            </a:extLst>
          </p:cNvPr>
          <p:cNvSpPr/>
          <p:nvPr/>
        </p:nvSpPr>
        <p:spPr>
          <a:xfrm>
            <a:off x="5443991" y="1697937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Стрелка: вправо 27">
            <a:extLst>
              <a:ext uri="{FF2B5EF4-FFF2-40B4-BE49-F238E27FC236}">
                <a16:creationId xmlns:a16="http://schemas.microsoft.com/office/drawing/2014/main" id="{BACD799E-4948-1065-96B0-D5491C01D140}"/>
              </a:ext>
            </a:extLst>
          </p:cNvPr>
          <p:cNvSpPr/>
          <p:nvPr/>
        </p:nvSpPr>
        <p:spPr>
          <a:xfrm>
            <a:off x="7979757" y="1697937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C7AB0-DCAA-3766-A726-4ADA484F8094}"/>
              </a:ext>
            </a:extLst>
          </p:cNvPr>
          <p:cNvSpPr txBox="1"/>
          <p:nvPr/>
        </p:nvSpPr>
        <p:spPr>
          <a:xfrm>
            <a:off x="891092" y="2899708"/>
            <a:ext cx="10409813" cy="17010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Из выгрузки — только </a:t>
            </a:r>
            <a:r>
              <a:rPr lang="ru-RU" sz="2400" b="1" dirty="0"/>
              <a:t>уникальные</a:t>
            </a:r>
            <a:r>
              <a:rPr lang="ru-RU" sz="2400" dirty="0"/>
              <a:t> текстовые формулировки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Разметка</a:t>
            </a:r>
            <a:r>
              <a:rPr lang="ru-RU" sz="2400" dirty="0"/>
              <a:t> — сопоставление с </a:t>
            </a:r>
            <a:r>
              <a:rPr lang="ru-RU" sz="2400" b="1" dirty="0"/>
              <a:t>классификатором</a:t>
            </a:r>
            <a:r>
              <a:rPr lang="ru-RU" sz="2400" dirty="0"/>
              <a:t> через </a:t>
            </a:r>
            <a:r>
              <a:rPr lang="ru-RU" sz="2400" b="1" dirty="0"/>
              <a:t>API DeepSeek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Уменьшаем дисбаланс</a:t>
            </a:r>
            <a:r>
              <a:rPr lang="ru-RU" sz="2400" dirty="0"/>
              <a:t> классов (~</a:t>
            </a:r>
            <a:r>
              <a:rPr lang="ru-RU" sz="2400" b="1" dirty="0"/>
              <a:t>1500:1</a:t>
            </a:r>
            <a:r>
              <a:rPr lang="ru-RU" sz="2400" dirty="0"/>
              <a:t> → ~</a:t>
            </a:r>
            <a:r>
              <a:rPr lang="ru-RU" sz="2400" b="1" dirty="0"/>
              <a:t>13:1</a:t>
            </a:r>
            <a:r>
              <a:rPr lang="ru-RU" sz="2400" dirty="0"/>
              <a:t>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C01CAF-2438-9381-4322-F6AC7D921BD3}"/>
              </a:ext>
            </a:extLst>
          </p:cNvPr>
          <p:cNvSpPr txBox="1"/>
          <p:nvPr/>
        </p:nvSpPr>
        <p:spPr>
          <a:xfrm>
            <a:off x="1065008" y="5196533"/>
            <a:ext cx="10061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400" i="1" dirty="0"/>
              <a:t>3 .2.2 соц. Помощь → соц. Помощь | 3.2.2</a:t>
            </a:r>
            <a:r>
              <a:rPr lang="en-US" sz="2400" i="1" dirty="0"/>
              <a:t> </a:t>
            </a:r>
            <a:endParaRPr lang="ru-RU" sz="2400" i="1" dirty="0"/>
          </a:p>
          <a:p>
            <a:pPr algn="ctr">
              <a:buNone/>
            </a:pPr>
            <a:r>
              <a:rPr lang="ru-RU" sz="2400" i="1" dirty="0"/>
              <a:t>магазины → магазины | 4.4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AC7CD5-B261-8DCA-F668-FEDAD0667F6D}"/>
              </a:ext>
            </a:extLst>
          </p:cNvPr>
          <p:cNvSpPr txBox="1"/>
          <p:nvPr/>
        </p:nvSpPr>
        <p:spPr>
          <a:xfrm>
            <a:off x="1065009" y="4712464"/>
            <a:ext cx="10061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400" b="1" dirty="0"/>
              <a:t>Примеры разметки</a:t>
            </a:r>
            <a:r>
              <a:rPr lang="ru-RU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264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AD27B-D7C3-9DC0-FBF6-A7DD451B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0FF8947-1BDD-2F12-F520-258E237E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План сравнение методов  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B19F6FC-3333-4E0D-875F-6F92477B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B9B3FC-3E05-571E-66D4-515E66FF5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2" name="Объект 3">
            <a:extLst>
              <a:ext uri="{FF2B5EF4-FFF2-40B4-BE49-F238E27FC236}">
                <a16:creationId xmlns:a16="http://schemas.microsoft.com/office/drawing/2014/main" id="{752606D9-B4BB-1435-E89B-0F16F53FB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68021"/>
              </p:ext>
            </p:extLst>
          </p:nvPr>
        </p:nvGraphicFramePr>
        <p:xfrm>
          <a:off x="1369359" y="1476964"/>
          <a:ext cx="9453282" cy="4046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9741">
                  <a:extLst>
                    <a:ext uri="{9D8B030D-6E8A-4147-A177-3AD203B41FA5}">
                      <a16:colId xmlns:a16="http://schemas.microsoft.com/office/drawing/2014/main" val="3199069052"/>
                    </a:ext>
                  </a:extLst>
                </a:gridCol>
                <a:gridCol w="6593541">
                  <a:extLst>
                    <a:ext uri="{9D8B030D-6E8A-4147-A177-3AD203B41FA5}">
                      <a16:colId xmlns:a16="http://schemas.microsoft.com/office/drawing/2014/main" val="3855967912"/>
                    </a:ext>
                  </a:extLst>
                </a:gridCol>
              </a:tblGrid>
              <a:tr h="415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Группа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Что входит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77135"/>
                  </a:ext>
                </a:extLst>
              </a:tr>
              <a:tr h="72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1. Лексика (</a:t>
                      </a:r>
                      <a:r>
                        <a:rPr lang="en-US" b="1" dirty="0"/>
                        <a:t>TF–IDF)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Logistic Regression; </a:t>
                      </a:r>
                      <a:r>
                        <a:rPr lang="en-US" b="1" dirty="0"/>
                        <a:t>LinearSVC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лучший в группе)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231359"/>
                  </a:ext>
                </a:extLst>
              </a:tr>
              <a:tr h="72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2. Бустинг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LightGBM</a:t>
                      </a:r>
                      <a:r>
                        <a:rPr lang="ru-RU" dirty="0"/>
                        <a:t> на тех же TF–IDF признаках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17820"/>
                  </a:ext>
                </a:extLst>
              </a:tr>
              <a:tr h="72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3. Эмбеддинги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SBERT, </a:t>
                      </a:r>
                      <a:r>
                        <a:rPr lang="en-US" b="1"/>
                        <a:t>BGE-M3</a:t>
                      </a:r>
                      <a:r>
                        <a:rPr lang="en-US"/>
                        <a:t>, MiniLM → </a:t>
                      </a:r>
                      <a:r>
                        <a:rPr lang="ru-RU"/>
                        <a:t>поверх векторов </a:t>
                      </a:r>
                      <a:r>
                        <a:rPr lang="en-US" b="1"/>
                        <a:t>LightGBM</a:t>
                      </a:r>
                      <a:r>
                        <a:rPr lang="en-US"/>
                        <a:t> (OvR)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857825"/>
                  </a:ext>
                </a:extLst>
              </a:tr>
              <a:tr h="72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4. Трансформеры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RuBERT-</a:t>
                      </a:r>
                      <a:r>
                        <a:rPr lang="en-US" b="1" dirty="0"/>
                        <a:t>base</a:t>
                      </a:r>
                      <a:r>
                        <a:rPr lang="en-US" dirty="0"/>
                        <a:t>, RuBERT-</a:t>
                      </a:r>
                      <a:r>
                        <a:rPr lang="en-US" b="1" dirty="0"/>
                        <a:t>large</a:t>
                      </a:r>
                      <a:r>
                        <a:rPr lang="en-US" dirty="0"/>
                        <a:t>, RuBERT-</a:t>
                      </a:r>
                      <a:r>
                        <a:rPr lang="en-US" b="1" dirty="0"/>
                        <a:t>STS</a:t>
                      </a:r>
                      <a:r>
                        <a:rPr lang="en-US" dirty="0"/>
                        <a:t>, ruRoberta-</a:t>
                      </a:r>
                      <a:r>
                        <a:rPr lang="en-US" b="1" dirty="0"/>
                        <a:t>large</a:t>
                      </a:r>
                      <a:r>
                        <a:rPr lang="en-US" dirty="0"/>
                        <a:t> (fine-tuning)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349173"/>
                  </a:ext>
                </a:extLst>
              </a:tr>
              <a:tr h="72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5. Ансамбль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RuBERT-large (</a:t>
                      </a:r>
                      <a:r>
                        <a:rPr lang="en-US" b="1" dirty="0"/>
                        <a:t>0,4</a:t>
                      </a:r>
                      <a:r>
                        <a:rPr lang="en-US" dirty="0"/>
                        <a:t>) + ruRoberta-large (</a:t>
                      </a:r>
                      <a:r>
                        <a:rPr lang="en-US" b="1" dirty="0"/>
                        <a:t>0,6</a:t>
                      </a:r>
                      <a:r>
                        <a:rPr lang="en-US" dirty="0"/>
                        <a:t>), </a:t>
                      </a:r>
                      <a:r>
                        <a:rPr lang="ru-RU" dirty="0"/>
                        <a:t>пороги на </a:t>
                      </a:r>
                      <a:r>
                        <a:rPr lang="en-US" dirty="0"/>
                        <a:t>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24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1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2FB0-6FEB-7CF6-6064-99A94B03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4BBB565D-5BD5-D5AB-41BA-68F6EB62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Результаты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F0A06C0-93FB-828C-FA83-F78DA1B75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336204"/>
              </p:ext>
            </p:extLst>
          </p:nvPr>
        </p:nvGraphicFramePr>
        <p:xfrm>
          <a:off x="1513330" y="1243876"/>
          <a:ext cx="9254316" cy="496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236">
                  <a:extLst>
                    <a:ext uri="{9D8B030D-6E8A-4147-A177-3AD203B41FA5}">
                      <a16:colId xmlns:a16="http://schemas.microsoft.com/office/drawing/2014/main" val="3199069052"/>
                    </a:ext>
                  </a:extLst>
                </a:gridCol>
                <a:gridCol w="4889399">
                  <a:extLst>
                    <a:ext uri="{9D8B030D-6E8A-4147-A177-3AD203B41FA5}">
                      <a16:colId xmlns:a16="http://schemas.microsoft.com/office/drawing/2014/main" val="3855967912"/>
                    </a:ext>
                  </a:extLst>
                </a:gridCol>
                <a:gridCol w="2378681">
                  <a:extLst>
                    <a:ext uri="{9D8B030D-6E8A-4147-A177-3AD203B41FA5}">
                      <a16:colId xmlns:a16="http://schemas.microsoft.com/office/drawing/2014/main" val="2601309311"/>
                    </a:ext>
                  </a:extLst>
                </a:gridCol>
              </a:tblGrid>
              <a:tr h="34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Группа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Модель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macro-F1</a:t>
                      </a:r>
                      <a:endParaRPr lang="en-US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77135"/>
                  </a:ext>
                </a:extLst>
              </a:tr>
              <a:tr h="34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Ансамбль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RuBERT-large + ruRoberta-large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/>
                        <a:t>0,834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231359"/>
                  </a:ext>
                </a:extLst>
              </a:tr>
              <a:tr h="34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Трансформеры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RuBERT-large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0,833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17820"/>
                  </a:ext>
                </a:extLst>
              </a:tr>
              <a:tr h="4667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RuBERT-STS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0,830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857825"/>
                  </a:ext>
                </a:extLst>
              </a:tr>
              <a:tr h="406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ruRoberta-large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0,829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349173"/>
                  </a:ext>
                </a:extLst>
              </a:tr>
              <a:tr h="34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RuBERT-base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0,818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249937"/>
                  </a:ext>
                </a:extLst>
              </a:tr>
              <a:tr h="449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Лексика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TF–IDF + LinearSVC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0,750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807547"/>
                  </a:ext>
                </a:extLst>
              </a:tr>
              <a:tr h="391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Эмбеддинги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0,728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74027"/>
                  </a:ext>
                </a:extLst>
              </a:tr>
              <a:tr h="48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SBERT large NLU </a:t>
                      </a:r>
                      <a:r>
                        <a:rPr lang="en-US" dirty="0" err="1"/>
                        <a:t>ru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0,689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201912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Бустинг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LightGBM (TF–IDF)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0,680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90171"/>
                  </a:ext>
                </a:extLst>
              </a:tr>
              <a:tr h="493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Эмбеддинги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MiniLM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0,674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003448"/>
                  </a:ext>
                </a:extLst>
              </a:tr>
              <a:tr h="344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/>
                        <a:t>Лексика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Logistic Regression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/>
                        <a:t>0,313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062062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5161447-5D6F-4814-0139-2F98175C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C89999-D1A4-C4B3-2CDF-A3C957024D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9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C54B-5EE1-6CEE-88AE-D2D04F77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F7E825A-7AC0-2636-F04E-F02E62C1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Решение — архитектура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8E6420D-BBA9-5FE1-F423-6BC1903C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A5ABAF-B4CF-EBAA-6B5E-F0E8BA8D9D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DA894A-3689-BCA0-7461-66CF02AA8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59" y="2022101"/>
            <a:ext cx="1006728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F078-26CA-0C12-44E2-F8081D96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8F3DB4-0076-2153-CC43-ACE330AF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Веб-приложение и API — функции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5311C27-3598-0F50-C1B5-5FBB599C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893854-E4C7-1FF9-322A-C967F9774E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A86A41-CCA3-C6A0-342B-70DB36BEDCDE}"/>
              </a:ext>
            </a:extLst>
          </p:cNvPr>
          <p:cNvSpPr txBox="1"/>
          <p:nvPr/>
        </p:nvSpPr>
        <p:spPr>
          <a:xfrm>
            <a:off x="1073021" y="2004837"/>
            <a:ext cx="100852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Классификация</a:t>
            </a:r>
            <a:r>
              <a:rPr lang="ru-RU" sz="2400" dirty="0"/>
              <a:t> текста ВРИ </a:t>
            </a:r>
          </a:p>
          <a:p>
            <a:pPr algn="ctr"/>
            <a:r>
              <a:rPr lang="ru-RU" sz="2400" b="1" dirty="0"/>
              <a:t>Справочник</a:t>
            </a:r>
            <a:r>
              <a:rPr lang="ru-RU" sz="2400" dirty="0"/>
              <a:t> — 156 кодов классификатора, поиск </a:t>
            </a:r>
          </a:p>
          <a:p>
            <a:pPr algn="ctr"/>
            <a:r>
              <a:rPr lang="ru-RU" sz="2400" b="1" dirty="0"/>
              <a:t>Регистрация</a:t>
            </a:r>
            <a:r>
              <a:rPr lang="ru-RU" sz="2400" dirty="0"/>
              <a:t> по email</a:t>
            </a:r>
            <a:r>
              <a:rPr lang="en-US" sz="2400" dirty="0"/>
              <a:t>, </a:t>
            </a:r>
            <a:r>
              <a:rPr lang="ru-RU" sz="2400" dirty="0"/>
              <a:t>Вход, </a:t>
            </a:r>
            <a:r>
              <a:rPr lang="ru-RU" sz="2400" b="1" dirty="0"/>
              <a:t>API-ключи</a:t>
            </a:r>
            <a:r>
              <a:rPr lang="ru-RU" sz="2400" dirty="0"/>
              <a:t>, Статистика по ключам</a:t>
            </a:r>
          </a:p>
          <a:p>
            <a:pPr algn="ctr"/>
            <a:r>
              <a:rPr lang="ru-RU" sz="2400" b="1" dirty="0"/>
              <a:t>Поддержка</a:t>
            </a:r>
            <a:r>
              <a:rPr lang="ru-RU" sz="2400" dirty="0"/>
              <a:t> — обращения и ответы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4BFA9-FA7E-29AF-881B-400351E3DC46}"/>
              </a:ext>
            </a:extLst>
          </p:cNvPr>
          <p:cNvSpPr txBox="1"/>
          <p:nvPr/>
        </p:nvSpPr>
        <p:spPr>
          <a:xfrm>
            <a:off x="1073021" y="4323649"/>
            <a:ext cx="100459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Классификация </a:t>
            </a:r>
            <a:r>
              <a:rPr lang="ru-RU" sz="2400" dirty="0"/>
              <a:t>через </a:t>
            </a:r>
            <a:r>
              <a:rPr lang="ru-RU" sz="2400" b="1" dirty="0"/>
              <a:t>API-ключи</a:t>
            </a:r>
            <a:r>
              <a:rPr lang="en-US" sz="2400" dirty="0"/>
              <a:t>:</a:t>
            </a:r>
            <a:r>
              <a:rPr lang="ru-RU" sz="2400" b="1" dirty="0"/>
              <a:t> </a:t>
            </a:r>
            <a:r>
              <a:rPr lang="ru-RU" sz="2400" dirty="0"/>
              <a:t>POST /api/v1/</a:t>
            </a:r>
            <a:r>
              <a:rPr lang="ru-RU" sz="2400" dirty="0" err="1"/>
              <a:t>classify</a:t>
            </a:r>
            <a:endParaRPr lang="ru-RU" sz="2400" dirty="0"/>
          </a:p>
          <a:p>
            <a:pPr algn="ctr"/>
            <a:r>
              <a:rPr lang="ru-RU" sz="2400" b="1" dirty="0"/>
              <a:t>Статистика </a:t>
            </a:r>
            <a:r>
              <a:rPr lang="ru-RU" sz="2400" dirty="0"/>
              <a:t>по</a:t>
            </a:r>
            <a:r>
              <a:rPr lang="ru-RU" sz="2400" b="1" dirty="0"/>
              <a:t> API-ключу</a:t>
            </a:r>
            <a:r>
              <a:rPr lang="ru-RU" sz="2400" dirty="0"/>
              <a:t>: GET /api/v1/</a:t>
            </a:r>
            <a:r>
              <a:rPr lang="ru-RU" sz="2400" dirty="0" err="1"/>
              <a:t>quota</a:t>
            </a:r>
            <a:r>
              <a:rPr lang="ru-RU" sz="2400" dirty="0"/>
              <a:t> </a:t>
            </a:r>
            <a:br>
              <a:rPr lang="ru-RU" sz="2400" dirty="0"/>
            </a:br>
            <a:r>
              <a:rPr lang="ru-RU" sz="2400" dirty="0"/>
              <a:t>Документация </a:t>
            </a:r>
            <a:r>
              <a:rPr lang="ru-RU" sz="2400" b="1" dirty="0"/>
              <a:t>OpenAPI</a:t>
            </a:r>
            <a:r>
              <a:rPr lang="ru-RU" sz="2400" dirty="0"/>
              <a:t> — /</a:t>
            </a:r>
            <a:r>
              <a:rPr lang="ru-RU" sz="2400" dirty="0" err="1"/>
              <a:t>docs</a:t>
            </a:r>
            <a:r>
              <a:rPr lang="ru-RU" sz="2400" dirty="0"/>
              <a:t> (Swagger)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EA4A4A-19B1-F19E-B92A-3CAB0809F341}"/>
              </a:ext>
            </a:extLst>
          </p:cNvPr>
          <p:cNvSpPr txBox="1"/>
          <p:nvPr/>
        </p:nvSpPr>
        <p:spPr>
          <a:xfrm>
            <a:off x="1073021" y="1470440"/>
            <a:ext cx="10085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/>
              <a:t>Веб-приложение</a:t>
            </a:r>
            <a:endParaRPr lang="ru-RU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3C0C9B-6BA4-76C2-2993-C2433A248101}"/>
              </a:ext>
            </a:extLst>
          </p:cNvPr>
          <p:cNvSpPr txBox="1"/>
          <p:nvPr/>
        </p:nvSpPr>
        <p:spPr>
          <a:xfrm>
            <a:off x="1073021" y="3800429"/>
            <a:ext cx="10045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/>
              <a:t>REST API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1775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18B9-55FC-677E-D64D-649CFCA3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535BD429-63B0-B59F-1554-4EE544A3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Тестирование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A9F1A8A-D34B-2923-5956-37C8467E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F329CF-51BE-E83A-E125-F226E860E1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3E6A4B0-071A-566B-9ABC-C77605B99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290044"/>
              </p:ext>
            </p:extLst>
          </p:nvPr>
        </p:nvGraphicFramePr>
        <p:xfrm>
          <a:off x="1053353" y="1842618"/>
          <a:ext cx="10085294" cy="3567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554">
                  <a:extLst>
                    <a:ext uri="{9D8B030D-6E8A-4147-A177-3AD203B41FA5}">
                      <a16:colId xmlns:a16="http://schemas.microsoft.com/office/drawing/2014/main" val="2807229940"/>
                    </a:ext>
                  </a:extLst>
                </a:gridCol>
                <a:gridCol w="1616521">
                  <a:extLst>
                    <a:ext uri="{9D8B030D-6E8A-4147-A177-3AD203B41FA5}">
                      <a16:colId xmlns:a16="http://schemas.microsoft.com/office/drawing/2014/main" val="918001895"/>
                    </a:ext>
                  </a:extLst>
                </a:gridCol>
                <a:gridCol w="6403219">
                  <a:extLst>
                    <a:ext uri="{9D8B030D-6E8A-4147-A177-3AD203B41FA5}">
                      <a16:colId xmlns:a16="http://schemas.microsoft.com/office/drawing/2014/main" val="2914634608"/>
                    </a:ext>
                  </a:extLst>
                </a:gridCol>
              </a:tblGrid>
              <a:tr h="713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Область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Сценариев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Примеры проверок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62948"/>
                  </a:ext>
                </a:extLst>
              </a:tr>
              <a:tr h="713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REST API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latin typeface="Courier New" panose="02070309020205020404" pitchFamily="49" charset="0"/>
                        </a:rPr>
                        <a:t>POST /api/v1/</a:t>
                      </a:r>
                      <a:r>
                        <a:rPr lang="ru-RU" dirty="0" err="1">
                          <a:latin typeface="Courier New" panose="02070309020205020404" pitchFamily="49" charset="0"/>
                        </a:rPr>
                        <a:t>classify</a:t>
                      </a:r>
                      <a:r>
                        <a:rPr lang="ru-RU" dirty="0"/>
                        <a:t>, ключ </a:t>
                      </a:r>
                      <a:r>
                        <a:rPr lang="ru-RU" b="1" dirty="0"/>
                        <a:t>X-API-Key</a:t>
                      </a:r>
                      <a:r>
                        <a:rPr lang="ru-RU" dirty="0"/>
                        <a:t>, пустой/длинный текст, </a:t>
                      </a:r>
                      <a:r>
                        <a:rPr lang="ru-RU" b="1" dirty="0"/>
                        <a:t>квота</a:t>
                      </a:r>
                      <a:r>
                        <a:rPr lang="ru-RU" dirty="0"/>
                        <a:t> 429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198930"/>
                  </a:ext>
                </a:extLst>
              </a:tr>
              <a:tr h="713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/>
                        <a:t>Веб-интерфейс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/login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/classify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/reference</a:t>
                      </a:r>
                      <a:r>
                        <a:rPr lang="en-US"/>
                        <a:t>, </a:t>
                      </a:r>
                      <a:r>
                        <a:rPr lang="ru-RU"/>
                        <a:t>форма классификации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422179"/>
                  </a:ext>
                </a:extLst>
              </a:tr>
              <a:tr h="713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/>
                        <a:t>Служебные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/health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OpenAPI</a:t>
                      </a:r>
                      <a:r>
                        <a:rPr lang="en-US"/>
                        <a:t>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/openapi.json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624787"/>
                  </a:ext>
                </a:extLst>
              </a:tr>
              <a:tr h="713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/>
                        <a:t>Шаблоны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/>
                        <a:t>отображение дат в </a:t>
                      </a:r>
                      <a:r>
                        <a:rPr lang="en-US" dirty="0"/>
                        <a:t>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116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047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5F59-D25E-14A7-B086-C9B004FE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39F14D0-B6D9-C5EE-9AA6-CD33DCC3F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Практическая значимость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04F9561-D269-A218-81B5-9B8ED046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1ED82A-ABF5-0383-4478-10C275C35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DC2B67-F5FA-0799-9DEB-3CC96057FC5B}"/>
              </a:ext>
            </a:extLst>
          </p:cNvPr>
          <p:cNvSpPr txBox="1"/>
          <p:nvPr/>
        </p:nvSpPr>
        <p:spPr>
          <a:xfrm>
            <a:off x="1057835" y="1312973"/>
            <a:ext cx="100763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/>
              <a:t>Для человека 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0B96C-00A7-785D-45C5-E35471E4B410}"/>
              </a:ext>
            </a:extLst>
          </p:cNvPr>
          <p:cNvSpPr txBox="1"/>
          <p:nvPr/>
        </p:nvSpPr>
        <p:spPr>
          <a:xfrm>
            <a:off x="1048870" y="3482056"/>
            <a:ext cx="100763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/>
              <a:t>Для информационной системы</a:t>
            </a:r>
            <a:endParaRPr lang="ru-RU" sz="2800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DFD6F89-5613-8C75-08FD-99CA83DEC21E}"/>
              </a:ext>
            </a:extLst>
          </p:cNvPr>
          <p:cNvSpPr/>
          <p:nvPr/>
        </p:nvSpPr>
        <p:spPr>
          <a:xfrm>
            <a:off x="1084740" y="2037542"/>
            <a:ext cx="1443319" cy="14119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Зайти в сервис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9FD01A5-4B20-C6DF-F703-4E22A2C8F2E7}"/>
              </a:ext>
            </a:extLst>
          </p:cNvPr>
          <p:cNvSpPr/>
          <p:nvPr/>
        </p:nvSpPr>
        <p:spPr>
          <a:xfrm>
            <a:off x="3294538" y="2000887"/>
            <a:ext cx="1766045" cy="13928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Ввести </a:t>
            </a:r>
            <a:r>
              <a:rPr lang="ru-RU" b="1" dirty="0">
                <a:solidFill>
                  <a:schemeClr val="tx1"/>
                </a:solidFill>
              </a:rPr>
              <a:t>текст</a:t>
            </a:r>
            <a:r>
              <a:rPr lang="ru-RU" dirty="0">
                <a:solidFill>
                  <a:schemeClr val="tx1"/>
                </a:solidFill>
              </a:rPr>
              <a:t> из выписки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C0398D6-1D42-5D5A-113D-31A39E7BB6A5}"/>
              </a:ext>
            </a:extLst>
          </p:cNvPr>
          <p:cNvSpPr/>
          <p:nvPr/>
        </p:nvSpPr>
        <p:spPr>
          <a:xfrm>
            <a:off x="5827062" y="2015462"/>
            <a:ext cx="1443320" cy="13928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Получить </a:t>
            </a:r>
            <a:r>
              <a:rPr lang="ru-RU" b="1" dirty="0">
                <a:solidFill>
                  <a:schemeClr val="tx1"/>
                </a:solidFill>
              </a:rPr>
              <a:t>коды ВРИ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8D84EA5-177E-579E-DA9C-D65FD7E2352C}"/>
              </a:ext>
            </a:extLst>
          </p:cNvPr>
          <p:cNvSpPr/>
          <p:nvPr/>
        </p:nvSpPr>
        <p:spPr>
          <a:xfrm>
            <a:off x="1792942" y="4174991"/>
            <a:ext cx="1407460" cy="1370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08A42DA-7E5A-CCFB-B346-3A11E58D71FE}"/>
              </a:ext>
            </a:extLst>
          </p:cNvPr>
          <p:cNvSpPr/>
          <p:nvPr/>
        </p:nvSpPr>
        <p:spPr>
          <a:xfrm>
            <a:off x="3953434" y="4174990"/>
            <a:ext cx="6445624" cy="137003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Массово</a:t>
            </a:r>
            <a:r>
              <a:rPr lang="ru-RU" dirty="0">
                <a:solidFill>
                  <a:schemeClr val="tx1"/>
                </a:solidFill>
              </a:rPr>
              <a:t> получает коды для </a:t>
            </a:r>
            <a:r>
              <a:rPr lang="ru-RU" b="1" dirty="0">
                <a:solidFill>
                  <a:schemeClr val="tx1"/>
                </a:solidFill>
              </a:rPr>
              <a:t>дальнейшего анализа</a:t>
            </a:r>
            <a:r>
              <a:rPr lang="ru-RU" dirty="0">
                <a:solidFill>
                  <a:schemeClr val="tx1"/>
                </a:solidFill>
              </a:rPr>
              <a:t> (карты, проверки, отчёты)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C33CE87-78A8-0D78-5EFB-0779268B4737}"/>
              </a:ext>
            </a:extLst>
          </p:cNvPr>
          <p:cNvSpPr/>
          <p:nvPr/>
        </p:nvSpPr>
        <p:spPr>
          <a:xfrm>
            <a:off x="8036861" y="2005905"/>
            <a:ext cx="3079374" cy="141194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 необходимости сверить со </a:t>
            </a:r>
            <a:r>
              <a:rPr lang="ru-RU" b="1" dirty="0">
                <a:solidFill>
                  <a:schemeClr val="tx1"/>
                </a:solidFill>
              </a:rPr>
              <a:t>справочником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0D98170A-51E2-CE51-1037-DBDF2C744F42}"/>
              </a:ext>
            </a:extLst>
          </p:cNvPr>
          <p:cNvSpPr/>
          <p:nvPr/>
        </p:nvSpPr>
        <p:spPr>
          <a:xfrm>
            <a:off x="3332316" y="4617692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43A7C8F2-2705-E212-AA43-5BE1CA7F5159}"/>
              </a:ext>
            </a:extLst>
          </p:cNvPr>
          <p:cNvSpPr/>
          <p:nvPr/>
        </p:nvSpPr>
        <p:spPr>
          <a:xfrm>
            <a:off x="2666697" y="2454986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8920D662-88B9-11D1-1593-43E63770A0F8}"/>
              </a:ext>
            </a:extLst>
          </p:cNvPr>
          <p:cNvSpPr/>
          <p:nvPr/>
        </p:nvSpPr>
        <p:spPr>
          <a:xfrm>
            <a:off x="5199220" y="2454986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F76680FA-359D-CF9F-A349-3CB629A2B36F}"/>
              </a:ext>
            </a:extLst>
          </p:cNvPr>
          <p:cNvSpPr/>
          <p:nvPr/>
        </p:nvSpPr>
        <p:spPr>
          <a:xfrm>
            <a:off x="7409019" y="2483889"/>
            <a:ext cx="489204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69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D17A-DA21-5254-48F5-C6326BB0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22EFF74-805F-0504-0AE7-581EDD05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Демонстрация сайта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C1B7BB8-4AB8-43C4-D773-EDB32AEF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94B9A2-2B89-8A73-EEB4-A3DB08A94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142E07-1B25-32A4-5BF3-F7AA327DC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78" y="950980"/>
            <a:ext cx="8607062" cy="568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B0476-0D47-AE1B-9A00-A9F96724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5582E7D-7B29-CEB0-7C20-95F09AEE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Демонстрация сайта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17518E8-C0EE-6451-E2CB-0CBB140A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0EC0A5-1F45-801C-FE63-EA48CF8776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EACC32-B79C-E7D2-2894-C935FE543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89" y="1033737"/>
            <a:ext cx="8326911" cy="53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9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4CB9-9314-3C24-6A35-1E482E8C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445FC59-081B-53F2-8A13-935A8B91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Демонстрация сайта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E88C67B-63B8-9AA3-BD13-1BFC68A0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0679A1-6370-0CD3-EF70-779A5F4825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2465C3-FF6E-6A50-3B7B-8A0B74CD7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45" y="1395422"/>
            <a:ext cx="10191709" cy="46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77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5F58-FDC4-3529-777E-B2CD1FA2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9D34935-5325-3012-EF7A-D69A5E7C1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Выводы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57E2747-2AAF-A63B-8088-117F8C89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212827-7BC4-4A64-C1B1-3BBA59625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F3FA98-6A34-1AB5-355F-162AC83C58CF}"/>
              </a:ext>
            </a:extLst>
          </p:cNvPr>
          <p:cNvSpPr txBox="1"/>
          <p:nvPr/>
        </p:nvSpPr>
        <p:spPr>
          <a:xfrm>
            <a:off x="1066801" y="1753298"/>
            <a:ext cx="10058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НСПД</a:t>
            </a:r>
            <a:r>
              <a:rPr lang="ru-RU" sz="2800" dirty="0"/>
              <a:t> → датасет → обучение → </a:t>
            </a:r>
            <a:r>
              <a:rPr lang="ru-RU" sz="2800" b="1" dirty="0"/>
              <a:t>веб-сервис и </a:t>
            </a:r>
            <a:r>
              <a:rPr lang="en-US" sz="2800" b="1" dirty="0"/>
              <a:t>REST API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202E3-1708-91B3-CBEA-66E9567BA935}"/>
              </a:ext>
            </a:extLst>
          </p:cNvPr>
          <p:cNvSpPr txBox="1"/>
          <p:nvPr/>
        </p:nvSpPr>
        <p:spPr>
          <a:xfrm>
            <a:off x="1066801" y="2737034"/>
            <a:ext cx="100583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/>
              <a:t>C</a:t>
            </a:r>
            <a:r>
              <a:rPr lang="ru-RU" sz="2800" dirty="0"/>
              <a:t>равнение методов классификации </a:t>
            </a:r>
            <a:br>
              <a:rPr lang="en-US" sz="2800" dirty="0"/>
            </a:br>
            <a:r>
              <a:rPr lang="ru-RU" sz="2800" b="1" dirty="0"/>
              <a:t>ансамбль </a:t>
            </a:r>
            <a:r>
              <a:rPr lang="en-US" sz="2800" b="1" dirty="0"/>
              <a:t>RuBERT-large + ruRoberta-large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EB8C3-3A22-D1AA-BC57-455D0E8F795B}"/>
              </a:ext>
            </a:extLst>
          </p:cNvPr>
          <p:cNvSpPr txBox="1"/>
          <p:nvPr/>
        </p:nvSpPr>
        <p:spPr>
          <a:xfrm>
            <a:off x="1066801" y="4151657"/>
            <a:ext cx="100583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Разработан </a:t>
            </a:r>
            <a:r>
              <a:rPr lang="ru-RU" sz="2800" b="1" dirty="0"/>
              <a:t>веб-сервис</a:t>
            </a:r>
            <a:br>
              <a:rPr lang="ru-RU" sz="2800" dirty="0"/>
            </a:br>
            <a:r>
              <a:rPr lang="ru-RU" sz="2800" dirty="0"/>
              <a:t>классификация в браузере, </a:t>
            </a:r>
            <a:r>
              <a:rPr lang="ru-RU" sz="2800" b="1" dirty="0"/>
              <a:t>REST API</a:t>
            </a:r>
            <a:endParaRPr lang="ru-RU" sz="2800" dirty="0"/>
          </a:p>
          <a:p>
            <a:pPr algn="ctr"/>
            <a:r>
              <a:rPr lang="ru-RU" sz="2800" dirty="0"/>
              <a:t>Проведено </a:t>
            </a:r>
            <a:r>
              <a:rPr lang="ru-RU" sz="2800" b="1" dirty="0"/>
              <a:t>автотестирование</a:t>
            </a:r>
            <a:r>
              <a:rPr lang="ru-RU" sz="2800" dirty="0"/>
              <a:t> — </a:t>
            </a:r>
            <a:r>
              <a:rPr lang="ru-RU" sz="2800" b="1" dirty="0"/>
              <a:t>22/22</a:t>
            </a:r>
            <a:r>
              <a:rPr lang="ru-RU" sz="2800" dirty="0"/>
              <a:t> (pytest)</a:t>
            </a:r>
          </a:p>
        </p:txBody>
      </p:sp>
    </p:spTree>
    <p:extLst>
      <p:ext uri="{BB962C8B-B14F-4D97-AF65-F5344CB8AC3E}">
        <p14:creationId xmlns:p14="http://schemas.microsoft.com/office/powerpoint/2010/main" val="1862267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72E0C25-4D24-4824-8DD5-D9617437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47094"/>
            <a:ext cx="10515600" cy="2852737"/>
          </a:xfrm>
        </p:spPr>
        <p:txBody>
          <a:bodyPr anchor="ctr"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3EB261-A094-4884-9A3C-2BD8ECEFD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31976"/>
            <a:ext cx="10701338" cy="144593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Теленков Константин Дмитриевич</a:t>
            </a:r>
          </a:p>
          <a:p>
            <a:pPr algn="r"/>
            <a:r>
              <a:rPr lang="ru-RU" dirty="0">
                <a:solidFill>
                  <a:schemeClr val="tx1"/>
                </a:solidFill>
              </a:rPr>
              <a:t>М3О-412Б-22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A35C9B-FE95-48E8-91B0-8108512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25454-849B-AE3C-9987-E43F829A70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3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E8C5-96B4-AAE4-87D0-61B6DB15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09C1427-1161-1F03-AEF9-A93EF233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Проблемы разметки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0A9E65-7680-799B-4D35-98FF411B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8C80F-8E93-C85B-EEB8-7887BE414D02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2C639D-D4A6-3F24-781B-0EAE9A943A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5D502D-92A7-AECE-40C3-053E5299711E}"/>
              </a:ext>
            </a:extLst>
          </p:cNvPr>
          <p:cNvSpPr txBox="1"/>
          <p:nvPr/>
        </p:nvSpPr>
        <p:spPr>
          <a:xfrm>
            <a:off x="1032339" y="1278381"/>
            <a:ext cx="101273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ru-RU" sz="2800" dirty="0"/>
            </a:br>
            <a:r>
              <a:rPr lang="ru-RU" sz="2800" b="1" dirty="0"/>
              <a:t>Примеры типичных формулировок из корпуса</a:t>
            </a:r>
            <a:endParaRPr lang="ru-RU" sz="2800" dirty="0"/>
          </a:p>
          <a:p>
            <a:pPr algn="ctr"/>
            <a:r>
              <a:rPr lang="ru-RU" sz="28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A0DF9-BCA6-652A-34F1-D3309FC2315A}"/>
              </a:ext>
            </a:extLst>
          </p:cNvPr>
          <p:cNvSpPr txBox="1"/>
          <p:nvPr/>
        </p:nvSpPr>
        <p:spPr>
          <a:xfrm>
            <a:off x="1424354" y="2399775"/>
            <a:ext cx="10127322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i="1" dirty="0"/>
              <a:t>2.1.1. малоэтажная многоквартирная жилая застройка</a:t>
            </a:r>
          </a:p>
          <a:p>
            <a:pPr>
              <a:lnSpc>
                <a:spcPct val="150000"/>
              </a:lnSpc>
            </a:pPr>
            <a:r>
              <a:rPr lang="ru-RU" sz="2000" i="1" dirty="0"/>
              <a:t>Для индивидуального жилищного строительства (2.1); Отдых (рекреация) (5.0)</a:t>
            </a:r>
          </a:p>
          <a:p>
            <a:pPr>
              <a:lnSpc>
                <a:spcPct val="150000"/>
              </a:lnSpc>
            </a:pPr>
            <a:r>
              <a:rPr lang="ru-RU" sz="2000" i="1" dirty="0"/>
              <a:t>Легкая промышленность (6.3.). Деловое управление (4.1.). Магазины (4.4.).</a:t>
            </a:r>
          </a:p>
          <a:p>
            <a:pPr>
              <a:lnSpc>
                <a:spcPct val="150000"/>
              </a:lnSpc>
            </a:pPr>
            <a:r>
              <a:rPr lang="ru-RU" sz="2000" i="1" dirty="0"/>
              <a:t>Магазины (4. 4). Благоустройство территории (12 .0.2).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FECB7-5C22-7367-32FF-2235BAB19EAC}"/>
              </a:ext>
            </a:extLst>
          </p:cNvPr>
          <p:cNvSpPr txBox="1"/>
          <p:nvPr/>
        </p:nvSpPr>
        <p:spPr>
          <a:xfrm>
            <a:off x="1032339" y="4600228"/>
            <a:ext cx="101273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Из </a:t>
            </a:r>
            <a:r>
              <a:rPr lang="ru-RU" sz="2800" b="1" dirty="0"/>
              <a:t>38 519</a:t>
            </a:r>
            <a:r>
              <a:rPr lang="ru-RU" sz="2800" dirty="0"/>
              <a:t> формулировок: </a:t>
            </a:r>
            <a:br>
              <a:rPr lang="ru-RU" sz="2800" dirty="0"/>
            </a:br>
            <a:r>
              <a:rPr lang="ru-RU" sz="2800" dirty="0"/>
              <a:t>с явным кодом — </a:t>
            </a:r>
            <a:r>
              <a:rPr lang="ru-RU" sz="2800" b="1" dirty="0"/>
              <a:t>12 365</a:t>
            </a:r>
            <a:r>
              <a:rPr lang="ru-RU" sz="2800" dirty="0"/>
              <a:t>, без кода — </a:t>
            </a:r>
            <a:r>
              <a:rPr lang="ru-RU" sz="2800" b="1" dirty="0"/>
              <a:t>26 154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05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3EE31-D9A5-8553-D512-5F85904E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1155123-3D74-80AB-4BEB-9D8C2EFE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Данные для обучения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BBC22AF-1DB1-1C59-ADAE-65EC5869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D140A1-7F54-20F5-2B1D-B82C0E861F1D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657DEF-146E-657A-7895-61207D8B68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7C3DF77E-A262-BAB3-084B-398B3E81C6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658370"/>
              </p:ext>
            </p:extLst>
          </p:nvPr>
        </p:nvGraphicFramePr>
        <p:xfrm>
          <a:off x="1039907" y="1281953"/>
          <a:ext cx="10094259" cy="4939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161">
                  <a:extLst>
                    <a:ext uri="{9D8B030D-6E8A-4147-A177-3AD203B41FA5}">
                      <a16:colId xmlns:a16="http://schemas.microsoft.com/office/drawing/2014/main" val="2031520413"/>
                    </a:ext>
                  </a:extLst>
                </a:gridCol>
                <a:gridCol w="3577549">
                  <a:extLst>
                    <a:ext uri="{9D8B030D-6E8A-4147-A177-3AD203B41FA5}">
                      <a16:colId xmlns:a16="http://schemas.microsoft.com/office/drawing/2014/main" val="28907779"/>
                    </a:ext>
                  </a:extLst>
                </a:gridCol>
                <a:gridCol w="3577549">
                  <a:extLst>
                    <a:ext uri="{9D8B030D-6E8A-4147-A177-3AD203B41FA5}">
                      <a16:colId xmlns:a16="http://schemas.microsoft.com/office/drawing/2014/main" val="799986822"/>
                    </a:ext>
                  </a:extLst>
                </a:gridCol>
              </a:tblGrid>
              <a:tr h="499821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Показатель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До балансировки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После балансировки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885380"/>
                  </a:ext>
                </a:extLst>
              </a:tr>
              <a:tr h="4998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Число строк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0" dirty="0"/>
                        <a:t>45211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0" dirty="0"/>
                        <a:t>29 361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313775"/>
                  </a:ext>
                </a:extLst>
              </a:tr>
              <a:tr h="752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Число классов в разметке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156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34346"/>
                  </a:ext>
                </a:extLst>
              </a:tr>
              <a:tr h="8900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Всего меток (сумма по всем примерам)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77312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41437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573449"/>
                  </a:ext>
                </a:extLst>
              </a:tr>
              <a:tr h="862705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Среднее меток на один 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 1,71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 1,411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074649"/>
                  </a:ext>
                </a:extLst>
              </a:tr>
              <a:tr h="93485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Доля примеров с несколькими метками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 2</a:t>
                      </a:r>
                      <a:r>
                        <a:rPr lang="en-US" b="0" dirty="0"/>
                        <a:t>4,8</a:t>
                      </a:r>
                      <a:r>
                        <a:rPr lang="ru-RU" b="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≈ 19,9%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000860"/>
                  </a:ext>
                </a:extLst>
              </a:tr>
              <a:tr h="499821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Дисбаланс по классам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1496,6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13,05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23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189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5158-3896-919E-42BC-FCF9F0C7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1D59D37-569A-95BE-86A9-1BD4DD61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Данные для обучения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E430C68-A8CC-1104-80A8-6FE1D212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6CDE2B-42E4-6F4B-8A91-B276925184EC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E89F44-FE0B-F197-84EE-8640520686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6FDA6A6-7CA2-2F52-DFF7-980722D36A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605427"/>
              </p:ext>
            </p:extLst>
          </p:nvPr>
        </p:nvGraphicFramePr>
        <p:xfrm>
          <a:off x="1048871" y="1290918"/>
          <a:ext cx="10085294" cy="49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880">
                  <a:extLst>
                    <a:ext uri="{9D8B030D-6E8A-4147-A177-3AD203B41FA5}">
                      <a16:colId xmlns:a16="http://schemas.microsoft.com/office/drawing/2014/main" val="2031520413"/>
                    </a:ext>
                  </a:extLst>
                </a:gridCol>
                <a:gridCol w="3214787">
                  <a:extLst>
                    <a:ext uri="{9D8B030D-6E8A-4147-A177-3AD203B41FA5}">
                      <a16:colId xmlns:a16="http://schemas.microsoft.com/office/drawing/2014/main" val="28907779"/>
                    </a:ext>
                  </a:extLst>
                </a:gridCol>
                <a:gridCol w="6295627">
                  <a:extLst>
                    <a:ext uri="{9D8B030D-6E8A-4147-A177-3AD203B41FA5}">
                      <a16:colId xmlns:a16="http://schemas.microsoft.com/office/drawing/2014/main" val="799986822"/>
                    </a:ext>
                  </a:extLst>
                </a:gridCol>
              </a:tblGrid>
              <a:tr h="286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Шаг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Что делаем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Суть метода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885380"/>
                  </a:ext>
                </a:extLst>
              </a:tr>
              <a:tr h="11902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Undersampling</a:t>
                      </a:r>
                      <a:r>
                        <a:rPr lang="en-US" sz="1200" b="1" dirty="0"/>
                        <a:t> </a:t>
                      </a:r>
                      <a:r>
                        <a:rPr lang="ru-RU" sz="1200" b="1" dirty="0" err="1"/>
                        <a:t>сверхчастых</a:t>
                      </a:r>
                      <a:r>
                        <a:rPr lang="ru-RU" sz="1200" b="1" dirty="0"/>
                        <a:t> </a:t>
                      </a:r>
                      <a:r>
                        <a:rPr lang="en-US" sz="1200" b="1" dirty="0"/>
                        <a:t>single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latin typeface="+mn-lt"/>
                        </a:rPr>
                        <a:t>Для кодов с </a:t>
                      </a:r>
                      <a:r>
                        <a:rPr lang="ru-RU" sz="1200" b="1" dirty="0">
                          <a:latin typeface="+mn-lt"/>
                        </a:rPr>
                        <a:t>&gt; 400</a:t>
                      </a:r>
                      <a:r>
                        <a:rPr lang="ru-RU" sz="1200" dirty="0">
                          <a:latin typeface="+mn-lt"/>
                        </a:rPr>
                        <a:t> однометочных строк: нормализация текста → </a:t>
                      </a:r>
                      <a:r>
                        <a:rPr lang="ru-RU" sz="1200" b="1" dirty="0">
                          <a:latin typeface="+mn-lt"/>
                        </a:rPr>
                        <a:t>удаление повторов</a:t>
                      </a:r>
                      <a:r>
                        <a:rPr lang="ru-RU" sz="1200" dirty="0">
                          <a:latin typeface="+mn-lt"/>
                        </a:rPr>
                        <a:t> → </a:t>
                      </a:r>
                      <a:r>
                        <a:rPr lang="ru-RU" sz="1200" b="1" dirty="0">
                          <a:latin typeface="+mn-lt"/>
                        </a:rPr>
                        <a:t>не больше 400</a:t>
                      </a:r>
                      <a:r>
                        <a:rPr lang="ru-RU" sz="1200" dirty="0">
                          <a:latin typeface="+mn-lt"/>
                        </a:rPr>
                        <a:t> на код (seed </a:t>
                      </a:r>
                      <a:r>
                        <a:rPr lang="ru-RU" sz="1200" b="1" dirty="0">
                          <a:latin typeface="+mn-lt"/>
                        </a:rPr>
                        <a:t>42</a:t>
                      </a:r>
                      <a:r>
                        <a:rPr lang="ru-RU" sz="1200" dirty="0">
                          <a:latin typeface="+mn-lt"/>
                        </a:rPr>
                        <a:t>). Multi-label </a:t>
                      </a:r>
                      <a:r>
                        <a:rPr lang="ru-RU" sz="1200" b="1" dirty="0">
                          <a:latin typeface="+mn-lt"/>
                        </a:rPr>
                        <a:t>сохраняем</a:t>
                      </a:r>
                      <a:r>
                        <a:rPr lang="ru-RU" sz="1200" dirty="0">
                          <a:latin typeface="+mn-lt"/>
                        </a:rPr>
                        <a:t>; лишние </a:t>
                      </a:r>
                      <a:r>
                        <a:rPr lang="ru-RU" sz="1200" dirty="0" err="1">
                          <a:latin typeface="+mn-lt"/>
                        </a:rPr>
                        <a:t>multi</a:t>
                      </a:r>
                      <a:r>
                        <a:rPr lang="ru-RU" sz="1200" dirty="0">
                          <a:latin typeface="+mn-lt"/>
                        </a:rPr>
                        <a:t> </a:t>
                      </a:r>
                      <a:r>
                        <a:rPr lang="ru-RU" sz="1200" b="1" dirty="0">
                          <a:latin typeface="+mn-lt"/>
                        </a:rPr>
                        <a:t>подрезаем</a:t>
                      </a:r>
                      <a:r>
                        <a:rPr lang="ru-RU" sz="1200" dirty="0">
                          <a:latin typeface="+mn-lt"/>
                        </a:rPr>
                        <a:t>, чтобы по коду было </a:t>
                      </a:r>
                      <a:r>
                        <a:rPr lang="ru-RU" sz="1200" b="1" dirty="0">
                          <a:latin typeface="+mn-lt"/>
                        </a:rPr>
                        <a:t>≥ 30% </a:t>
                      </a:r>
                      <a:r>
                        <a:rPr lang="ru-RU" sz="1200" b="1" dirty="0" err="1">
                          <a:latin typeface="+mn-lt"/>
                        </a:rPr>
                        <a:t>single</a:t>
                      </a:r>
                      <a:r>
                        <a:rPr lang="ru-RU" sz="1200" dirty="0">
                          <a:latin typeface="+mn-lt"/>
                        </a:rPr>
                        <a:t> и </a:t>
                      </a:r>
                      <a:r>
                        <a:rPr lang="ru-RU" sz="1200" b="1" dirty="0">
                          <a:latin typeface="+mn-lt"/>
                        </a:rPr>
                        <a:t>≥ 20% </a:t>
                      </a:r>
                      <a:r>
                        <a:rPr lang="ru-RU" sz="1200" b="1" dirty="0" err="1">
                          <a:latin typeface="+mn-lt"/>
                        </a:rPr>
                        <a:t>multi</a:t>
                      </a:r>
                      <a:r>
                        <a:rPr lang="ru-RU" sz="120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313775"/>
                  </a:ext>
                </a:extLst>
              </a:tr>
              <a:tr h="1027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2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Добор </a:t>
                      </a:r>
                      <a:r>
                        <a:rPr lang="en-US" sz="1200" b="1" dirty="0"/>
                        <a:t>multi </a:t>
                      </a:r>
                      <a:r>
                        <a:rPr lang="ru-RU" sz="1200" b="1" dirty="0"/>
                        <a:t>через </a:t>
                      </a:r>
                      <a:r>
                        <a:rPr lang="en-US" sz="1200" b="1" dirty="0"/>
                        <a:t>DeepSeek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deepseek_generate_examples.py, </a:t>
                      </a:r>
                      <a:r>
                        <a:rPr lang="ru-RU" sz="1200" dirty="0">
                          <a:latin typeface="+mn-lt"/>
                        </a:rPr>
                        <a:t>режим </a:t>
                      </a:r>
                      <a:r>
                        <a:rPr lang="en-US" sz="1200" b="1" dirty="0">
                          <a:latin typeface="+mn-lt"/>
                        </a:rPr>
                        <a:t>multi</a:t>
                      </a:r>
                      <a:r>
                        <a:rPr lang="en-US" sz="1200" dirty="0">
                          <a:latin typeface="+mn-lt"/>
                        </a:rPr>
                        <a:t> — </a:t>
                      </a:r>
                      <a:r>
                        <a:rPr lang="ru-RU" sz="1200" dirty="0">
                          <a:latin typeface="+mn-lt"/>
                        </a:rPr>
                        <a:t>синтетические примеры с несколькими кодами; кэш в </a:t>
                      </a:r>
                      <a:r>
                        <a:rPr lang="en-US" sz="1200" dirty="0">
                          <a:latin typeface="+mn-lt"/>
                        </a:rPr>
                        <a:t>artifacts/generated/deepseek_examples.csv.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34346"/>
                  </a:ext>
                </a:extLst>
              </a:tr>
              <a:tr h="865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3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Цель: </a:t>
                      </a:r>
                      <a:r>
                        <a:rPr lang="en-US" sz="1200" b="1" dirty="0"/>
                        <a:t>support ≥ 100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latin typeface="+mn-lt"/>
                        </a:rPr>
                        <a:t>Для всех </a:t>
                      </a:r>
                      <a:r>
                        <a:rPr lang="ru-RU" sz="1200" b="1" dirty="0">
                          <a:latin typeface="+mn-lt"/>
                        </a:rPr>
                        <a:t>156</a:t>
                      </a:r>
                      <a:r>
                        <a:rPr lang="ru-RU" sz="1200" dirty="0">
                          <a:latin typeface="+mn-lt"/>
                        </a:rPr>
                        <a:t> кодов классификатора. Редкие добирают через DeepSeek </a:t>
                      </a:r>
                      <a:r>
                        <a:rPr lang="ru-RU" sz="1200" b="1" dirty="0" err="1">
                          <a:latin typeface="+mn-lt"/>
                        </a:rPr>
                        <a:t>single</a:t>
                      </a:r>
                      <a:r>
                        <a:rPr lang="ru-RU" sz="1200" dirty="0">
                          <a:latin typeface="+mn-lt"/>
                        </a:rPr>
                        <a:t> (новые </a:t>
                      </a:r>
                      <a:r>
                        <a:rPr lang="ru-RU" sz="1200" dirty="0" err="1">
                          <a:latin typeface="+mn-lt"/>
                        </a:rPr>
                        <a:t>однометочные</a:t>
                      </a:r>
                      <a:r>
                        <a:rPr lang="ru-RU" sz="1200" dirty="0">
                          <a:latin typeface="+mn-lt"/>
                        </a:rPr>
                        <a:t> формулировки).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573449"/>
                  </a:ext>
                </a:extLst>
              </a:tr>
              <a:tr h="865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4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Локальное усиление хвоста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latin typeface="+mn-lt"/>
                        </a:rPr>
                        <a:t>Остаток дефицита: </a:t>
                      </a:r>
                      <a:r>
                        <a:rPr lang="en-US" sz="1200" b="1" dirty="0">
                          <a:latin typeface="+mn-lt"/>
                        </a:rPr>
                        <a:t>back-translation</a:t>
                      </a:r>
                      <a:r>
                        <a:rPr lang="en-US" sz="1200" dirty="0">
                          <a:latin typeface="+mn-lt"/>
                        </a:rPr>
                        <a:t> (</a:t>
                      </a:r>
                      <a:r>
                        <a:rPr lang="en-US" sz="1200" dirty="0" err="1">
                          <a:latin typeface="+mn-lt"/>
                        </a:rPr>
                        <a:t>ru→en→ru</a:t>
                      </a:r>
                      <a:r>
                        <a:rPr lang="en-US" sz="1200" dirty="0">
                          <a:latin typeface="+mn-lt"/>
                        </a:rPr>
                        <a:t>, Helsinki-NLP) </a:t>
                      </a:r>
                      <a:r>
                        <a:rPr lang="ru-RU" sz="1200" dirty="0">
                          <a:latin typeface="+mn-lt"/>
                        </a:rPr>
                        <a:t>и </a:t>
                      </a:r>
                      <a:r>
                        <a:rPr lang="en-US" sz="1200" b="1" dirty="0">
                          <a:latin typeface="+mn-lt"/>
                        </a:rPr>
                        <a:t>dup</a:t>
                      </a:r>
                      <a:r>
                        <a:rPr lang="en-US" sz="1200" dirty="0">
                          <a:latin typeface="+mn-lt"/>
                        </a:rPr>
                        <a:t> — </a:t>
                      </a:r>
                      <a:r>
                        <a:rPr lang="ru-RU" sz="1200" dirty="0">
                          <a:latin typeface="+mn-lt"/>
                        </a:rPr>
                        <a:t>повтор </a:t>
                      </a:r>
                      <a:r>
                        <a:rPr lang="en-US" sz="1200" dirty="0">
                          <a:latin typeface="+mn-lt"/>
                        </a:rPr>
                        <a:t>single-</a:t>
                      </a:r>
                      <a:r>
                        <a:rPr lang="ru-RU" sz="1200" dirty="0">
                          <a:latin typeface="+mn-lt"/>
                        </a:rPr>
                        <a:t>текстов того же кода (</a:t>
                      </a:r>
                      <a:r>
                        <a:rPr lang="en-US" sz="1200" dirty="0" err="1">
                          <a:latin typeface="+mn-lt"/>
                        </a:rPr>
                        <a:t>aug:bt</a:t>
                      </a:r>
                      <a:r>
                        <a:rPr lang="en-US" sz="1200" dirty="0">
                          <a:latin typeface="+mn-lt"/>
                        </a:rPr>
                        <a:t> / </a:t>
                      </a:r>
                      <a:r>
                        <a:rPr lang="en-US" sz="1200" dirty="0" err="1">
                          <a:latin typeface="+mn-lt"/>
                        </a:rPr>
                        <a:t>aug:dup</a:t>
                      </a:r>
                      <a:r>
                        <a:rPr lang="en-US" sz="1200" dirty="0">
                          <a:latin typeface="+mn-lt"/>
                        </a:rPr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074649"/>
                  </a:ext>
                </a:extLst>
              </a:tr>
              <a:tr h="703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5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Повторный добор </a:t>
                      </a:r>
                      <a:r>
                        <a:rPr lang="ru-RU" sz="1200" b="1" dirty="0" err="1"/>
                        <a:t>multi</a:t>
                      </a:r>
                      <a:r>
                        <a:rPr lang="ru-RU" sz="1200" b="1" dirty="0"/>
                        <a:t> через DeepSeek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latin typeface="+mn-lt"/>
                        </a:rPr>
                        <a:t>После </a:t>
                      </a:r>
                      <a:r>
                        <a:rPr lang="ru-RU" sz="1200" dirty="0" err="1">
                          <a:latin typeface="+mn-lt"/>
                        </a:rPr>
                        <a:t>single</a:t>
                      </a:r>
                      <a:r>
                        <a:rPr lang="ru-RU" sz="1200" dirty="0">
                          <a:latin typeface="+mn-lt"/>
                        </a:rPr>
                        <a:t>/</a:t>
                      </a:r>
                      <a:r>
                        <a:rPr lang="ru-RU" sz="1200" dirty="0" err="1">
                          <a:latin typeface="+mn-lt"/>
                        </a:rPr>
                        <a:t>bt</a:t>
                      </a:r>
                      <a:r>
                        <a:rPr lang="ru-RU" sz="1200" dirty="0">
                          <a:latin typeface="+mn-lt"/>
                        </a:rPr>
                        <a:t>/</a:t>
                      </a:r>
                      <a:r>
                        <a:rPr lang="ru-RU" sz="1200" dirty="0" err="1">
                          <a:latin typeface="+mn-lt"/>
                        </a:rPr>
                        <a:t>dup</a:t>
                      </a:r>
                      <a:r>
                        <a:rPr lang="ru-RU" sz="1200" dirty="0">
                          <a:latin typeface="+mn-lt"/>
                        </a:rPr>
                        <a:t> снова проверяют долю </a:t>
                      </a:r>
                      <a:r>
                        <a:rPr lang="ru-RU" sz="1200" dirty="0" err="1">
                          <a:latin typeface="+mn-lt"/>
                        </a:rPr>
                        <a:t>multi</a:t>
                      </a:r>
                      <a:r>
                        <a:rPr lang="ru-RU" sz="1200" dirty="0">
                          <a:latin typeface="+mn-lt"/>
                        </a:rPr>
                        <a:t>; при нехватке — второй проход DeepSeek </a:t>
                      </a:r>
                      <a:r>
                        <a:rPr lang="ru-RU" sz="1200" b="1" dirty="0" err="1">
                          <a:latin typeface="+mn-lt"/>
                        </a:rPr>
                        <a:t>multi</a:t>
                      </a:r>
                      <a:r>
                        <a:rPr lang="ru-RU" sz="120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000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88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112F0-60F5-FF00-D266-ADB36EF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A9676BE-E362-1A74-2CBD-1E845BFB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Используемые метрики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9CD0E82-6752-4C16-FBCD-DFACC7F3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C1513-0DD9-CBA9-63F9-3EA50927D71A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8A74B9-8CD6-C635-4950-171467E1F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1895554D-8642-97F3-3E5E-F5F9FE82E63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76670981"/>
                  </p:ext>
                </p:extLst>
              </p:nvPr>
            </p:nvGraphicFramePr>
            <p:xfrm>
              <a:off x="595221" y="1508236"/>
              <a:ext cx="11001557" cy="4437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194">
                      <a:extLst>
                        <a:ext uri="{9D8B030D-6E8A-4147-A177-3AD203B41FA5}">
                          <a16:colId xmlns:a16="http://schemas.microsoft.com/office/drawing/2014/main" val="3252816172"/>
                        </a:ext>
                      </a:extLst>
                    </a:gridCol>
                    <a:gridCol w="1074710">
                      <a:extLst>
                        <a:ext uri="{9D8B030D-6E8A-4147-A177-3AD203B41FA5}">
                          <a16:colId xmlns:a16="http://schemas.microsoft.com/office/drawing/2014/main" val="3199069052"/>
                        </a:ext>
                      </a:extLst>
                    </a:gridCol>
                    <a:gridCol w="1604513">
                      <a:extLst>
                        <a:ext uri="{9D8B030D-6E8A-4147-A177-3AD203B41FA5}">
                          <a16:colId xmlns:a16="http://schemas.microsoft.com/office/drawing/2014/main" val="3855967912"/>
                        </a:ext>
                      </a:extLst>
                    </a:gridCol>
                    <a:gridCol w="1319841">
                      <a:extLst>
                        <a:ext uri="{9D8B030D-6E8A-4147-A177-3AD203B41FA5}">
                          <a16:colId xmlns:a16="http://schemas.microsoft.com/office/drawing/2014/main" val="2601309311"/>
                        </a:ext>
                      </a:extLst>
                    </a:gridCol>
                    <a:gridCol w="1337095">
                      <a:extLst>
                        <a:ext uri="{9D8B030D-6E8A-4147-A177-3AD203B41FA5}">
                          <a16:colId xmlns:a16="http://schemas.microsoft.com/office/drawing/2014/main" val="1143631163"/>
                        </a:ext>
                      </a:extLst>
                    </a:gridCol>
                    <a:gridCol w="1714067">
                      <a:extLst>
                        <a:ext uri="{9D8B030D-6E8A-4147-A177-3AD203B41FA5}">
                          <a16:colId xmlns:a16="http://schemas.microsoft.com/office/drawing/2014/main" val="434067970"/>
                        </a:ext>
                      </a:extLst>
                    </a:gridCol>
                    <a:gridCol w="1087645">
                      <a:extLst>
                        <a:ext uri="{9D8B030D-6E8A-4147-A177-3AD203B41FA5}">
                          <a16:colId xmlns:a16="http://schemas.microsoft.com/office/drawing/2014/main" val="2249223370"/>
                        </a:ext>
                      </a:extLst>
                    </a:gridCol>
                    <a:gridCol w="1488492">
                      <a:extLst>
                        <a:ext uri="{9D8B030D-6E8A-4147-A177-3AD203B41FA5}">
                          <a16:colId xmlns:a16="http://schemas.microsoft.com/office/drawing/2014/main" val="1534598137"/>
                        </a:ext>
                      </a:extLst>
                    </a:gridCol>
                  </a:tblGrid>
                  <a:tr h="4026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400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F</a:t>
                          </a:r>
                          <a:r>
                            <a:rPr lang="ru-RU" sz="1400" dirty="0"/>
                            <a:t>1</a:t>
                          </a:r>
                          <a:r>
                            <a:rPr lang="en-US" sz="1400" dirty="0"/>
                            <a:t>-Score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macro-F1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micro-F1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weighted-F1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Hamming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LRAP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Exact match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577135"/>
                      </a:ext>
                    </a:extLst>
                  </a:tr>
                  <a:tr h="1315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Формула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2∗</m:t>
                                </m:r>
                                <m:f>
                                  <m:f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𝑃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∗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𝑃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+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𝑅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dirty="0"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ru-RU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𝑆𝑐𝑜𝑟𝑒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F1 по всем меткам сразу</a:t>
                          </a:r>
                          <a:endParaRPr lang="en-US" sz="1200" dirty="0"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ru-RU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156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ru-RU" sz="12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ctrlPr>
                                          <a:rPr lang="ru-RU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156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ru-RU" sz="1200" dirty="0"/>
                        </a:p>
                        <a:p>
                          <a:pPr algn="ctr">
                            <a:buNone/>
                          </a:pPr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ru-RU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всего неверных битов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ru-RU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число примеров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×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156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sz="12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∗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  <m:sSub>
                                      <m:sSubPr>
                                        <m:ctrlP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sz="12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∗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1[</m:t>
                                    </m:r>
                                    <m:sSub>
                                      <m:sSubPr>
                                        <m:ctrlP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2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2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]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cy-GB" sz="1200" smtClean="0"/>
                                      <m:t> 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br>
                            <a:rPr lang="en-US" sz="1200" dirty="0"/>
                          </a:br>
                          <a:r>
                            <a:rPr lang="ru-RU" sz="1200" dirty="0"/>
                            <a:t>совпали </a:t>
                          </a:r>
                          <a:r>
                            <a:rPr lang="ru-RU" sz="1200" b="1" dirty="0"/>
                            <a:t>все</a:t>
                          </a:r>
                          <a:r>
                            <a:rPr lang="ru-RU" sz="1200" dirty="0"/>
                            <a:t> бит вектора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74231359"/>
                      </a:ext>
                    </a:extLst>
                  </a:tr>
                  <a:tr h="11760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Что показывает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Баланс между точностью и полнотой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Среднее качество </a:t>
                          </a:r>
                          <a:r>
                            <a:rPr lang="ru-RU" sz="1200" b="1" dirty="0"/>
                            <a:t>по каждому ВРИ</a:t>
                          </a:r>
                          <a:r>
                            <a:rPr lang="ru-RU" sz="1200" dirty="0"/>
                            <a:t>, включая </a:t>
                          </a:r>
                          <a:r>
                            <a:rPr lang="ru-RU" sz="1200" b="1" dirty="0"/>
                            <a:t>редкие</a:t>
                          </a:r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Оценка по всем меткам сразу; тянется к </a:t>
                          </a:r>
                          <a:r>
                            <a:rPr lang="ru-RU" sz="1200" b="1" dirty="0"/>
                            <a:t>частым</a:t>
                          </a:r>
                          <a:r>
                            <a:rPr lang="ru-RU" sz="1200" dirty="0"/>
                            <a:t> кодам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Среднее по классам с учётом </a:t>
                          </a:r>
                          <a:r>
                            <a:rPr lang="ru-RU" sz="1200" b="1" dirty="0"/>
                            <a:t>частоты</a:t>
                          </a:r>
                          <a:r>
                            <a:rPr lang="ru-RU" sz="1200" dirty="0"/>
                            <a:t> в выборке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Доля ошибок по </a:t>
                          </a:r>
                          <a:r>
                            <a:rPr lang="ru-RU" sz="1200" b="1" dirty="0"/>
                            <a:t>битам</a:t>
                          </a:r>
                          <a:r>
                            <a:rPr lang="ru-RU" sz="1200" dirty="0"/>
                            <a:t> меток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Высота </a:t>
                          </a:r>
                          <a:r>
                            <a:rPr lang="ru-RU" sz="1200" b="1" dirty="0"/>
                            <a:t>истинных</a:t>
                          </a:r>
                          <a:r>
                            <a:rPr lang="ru-RU" sz="1200" dirty="0"/>
                            <a:t> меток в ранге по </a:t>
                          </a:r>
                          <a:r>
                            <a:rPr lang="ru-RU" sz="1200" dirty="0" err="1"/>
                            <a:t>скору</a:t>
                          </a:r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Полное совпадение всех меток — очень </a:t>
                          </a:r>
                          <a:r>
                            <a:rPr lang="ru-RU" sz="1200" b="1" dirty="0"/>
                            <a:t>строго</a:t>
                          </a:r>
                          <a:endParaRPr lang="ru-RU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6617820"/>
                      </a:ext>
                    </a:extLst>
                  </a:tr>
                  <a:tr h="15435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Зачем важна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Баланс точности и полноты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Ключевая метрика</a:t>
                          </a:r>
                          <a:r>
                            <a:rPr lang="en-US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 </a:t>
                          </a:r>
                          <a:r>
                            <a:rPr lang="ru-RU" sz="1200" dirty="0">
                              <a:latin typeface="+mj-lt"/>
                            </a:rPr>
                            <a:t>при </a:t>
                          </a:r>
                          <a:r>
                            <a:rPr lang="ru-RU" sz="1200" b="1" dirty="0">
                              <a:latin typeface="+mj-lt"/>
                            </a:rPr>
                            <a:t>дисбалансе</a:t>
                          </a:r>
                          <a:r>
                            <a:rPr lang="ru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 </a:t>
                          </a:r>
                          <a:endParaRPr lang="ru-RU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Рядом с </a:t>
                          </a:r>
                          <a:r>
                            <a:rPr lang="ru-RU" sz="1200" dirty="0" err="1"/>
                            <a:t>macro</a:t>
                          </a:r>
                          <a:r>
                            <a:rPr lang="ru-RU" sz="1200" dirty="0"/>
                            <a:t>: видно перекос на популярные ВРИ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Одно число между </a:t>
                          </a:r>
                          <a:r>
                            <a:rPr lang="ru-RU" sz="1200" dirty="0" err="1"/>
                            <a:t>macro</a:t>
                          </a:r>
                          <a:r>
                            <a:rPr lang="ru-RU" sz="1200" dirty="0"/>
                            <a:t> и </a:t>
                          </a:r>
                          <a:r>
                            <a:rPr lang="ru-RU" sz="1200" dirty="0" err="1"/>
                            <a:t>micro</a:t>
                          </a:r>
                          <a:r>
                            <a:rPr lang="ru-RU" sz="1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Простое дополнение к </a:t>
                          </a:r>
                          <a:r>
                            <a:rPr lang="en-US" sz="1200" dirty="0"/>
                            <a:t>F1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Если интересен порядок кандидатов по уверенности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Обычно низко; </a:t>
                          </a:r>
                          <a:r>
                            <a:rPr lang="ru-RU" sz="1200" b="1" dirty="0"/>
                            <a:t>не</a:t>
                          </a:r>
                          <a:r>
                            <a:rPr lang="ru-RU" sz="1200" dirty="0"/>
                            <a:t> подменяет macro-F1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5857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1895554D-8642-97F3-3E5E-F5F9FE82E63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76670981"/>
                  </p:ext>
                </p:extLst>
              </p:nvPr>
            </p:nvGraphicFramePr>
            <p:xfrm>
              <a:off x="595221" y="1508236"/>
              <a:ext cx="11001557" cy="4437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194">
                      <a:extLst>
                        <a:ext uri="{9D8B030D-6E8A-4147-A177-3AD203B41FA5}">
                          <a16:colId xmlns:a16="http://schemas.microsoft.com/office/drawing/2014/main" val="3252816172"/>
                        </a:ext>
                      </a:extLst>
                    </a:gridCol>
                    <a:gridCol w="1074710">
                      <a:extLst>
                        <a:ext uri="{9D8B030D-6E8A-4147-A177-3AD203B41FA5}">
                          <a16:colId xmlns:a16="http://schemas.microsoft.com/office/drawing/2014/main" val="3199069052"/>
                        </a:ext>
                      </a:extLst>
                    </a:gridCol>
                    <a:gridCol w="1604513">
                      <a:extLst>
                        <a:ext uri="{9D8B030D-6E8A-4147-A177-3AD203B41FA5}">
                          <a16:colId xmlns:a16="http://schemas.microsoft.com/office/drawing/2014/main" val="3855967912"/>
                        </a:ext>
                      </a:extLst>
                    </a:gridCol>
                    <a:gridCol w="1319841">
                      <a:extLst>
                        <a:ext uri="{9D8B030D-6E8A-4147-A177-3AD203B41FA5}">
                          <a16:colId xmlns:a16="http://schemas.microsoft.com/office/drawing/2014/main" val="2601309311"/>
                        </a:ext>
                      </a:extLst>
                    </a:gridCol>
                    <a:gridCol w="1337095">
                      <a:extLst>
                        <a:ext uri="{9D8B030D-6E8A-4147-A177-3AD203B41FA5}">
                          <a16:colId xmlns:a16="http://schemas.microsoft.com/office/drawing/2014/main" val="1143631163"/>
                        </a:ext>
                      </a:extLst>
                    </a:gridCol>
                    <a:gridCol w="1714067">
                      <a:extLst>
                        <a:ext uri="{9D8B030D-6E8A-4147-A177-3AD203B41FA5}">
                          <a16:colId xmlns:a16="http://schemas.microsoft.com/office/drawing/2014/main" val="434067970"/>
                        </a:ext>
                      </a:extLst>
                    </a:gridCol>
                    <a:gridCol w="1087645">
                      <a:extLst>
                        <a:ext uri="{9D8B030D-6E8A-4147-A177-3AD203B41FA5}">
                          <a16:colId xmlns:a16="http://schemas.microsoft.com/office/drawing/2014/main" val="2249223370"/>
                        </a:ext>
                      </a:extLst>
                    </a:gridCol>
                    <a:gridCol w="1488492">
                      <a:extLst>
                        <a:ext uri="{9D8B030D-6E8A-4147-A177-3AD203B41FA5}">
                          <a16:colId xmlns:a16="http://schemas.microsoft.com/office/drawing/2014/main" val="1534598137"/>
                        </a:ext>
                      </a:extLst>
                    </a:gridCol>
                  </a:tblGrid>
                  <a:tr h="4026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1400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F</a:t>
                          </a:r>
                          <a:r>
                            <a:rPr lang="ru-RU" sz="1400" dirty="0"/>
                            <a:t>1</a:t>
                          </a:r>
                          <a:r>
                            <a:rPr lang="en-US" sz="1400" dirty="0"/>
                            <a:t>-Score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macro-F1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micro-F1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weighted-F1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Hamming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LRAP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Exact match</a:t>
                          </a:r>
                        </a:p>
                      </a:txBody>
                      <a:tcPr anchor="ct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577135"/>
                      </a:ext>
                    </a:extLst>
                  </a:tr>
                  <a:tr h="1315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Формула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977" t="-31944" r="-800000" b="-207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2652" t="-31944" r="-433333" b="-207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F1 по всем меткам сразу</a:t>
                          </a:r>
                          <a:endParaRPr lang="en-US" sz="1200" dirty="0"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1364" t="-31944" r="-321818" b="-207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527" t="-31944" r="-151957" b="-207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3184" t="-31944" r="-138547" b="-207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0574" t="-31944" r="-1639" b="-207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4231359"/>
                      </a:ext>
                    </a:extLst>
                  </a:tr>
                  <a:tr h="11760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Что показывает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Баланс между точностью и полнотой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dirty="0"/>
                            <a:t>Среднее качество </a:t>
                          </a:r>
                          <a:r>
                            <a:rPr lang="ru-RU" sz="1200" b="1" dirty="0"/>
                            <a:t>по каждому ВРИ</a:t>
                          </a:r>
                          <a:r>
                            <a:rPr lang="ru-RU" sz="1200" dirty="0"/>
                            <a:t>, включая </a:t>
                          </a:r>
                          <a:r>
                            <a:rPr lang="ru-RU" sz="1200" b="1" dirty="0"/>
                            <a:t>редкие</a:t>
                          </a:r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Оценка по всем меткам сразу; тянется к </a:t>
                          </a:r>
                          <a:r>
                            <a:rPr lang="ru-RU" sz="1200" b="1" dirty="0"/>
                            <a:t>частым</a:t>
                          </a:r>
                          <a:r>
                            <a:rPr lang="ru-RU" sz="1200" dirty="0"/>
                            <a:t> кодам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Среднее по классам с учётом </a:t>
                          </a:r>
                          <a:r>
                            <a:rPr lang="ru-RU" sz="1200" b="1" dirty="0"/>
                            <a:t>частоты</a:t>
                          </a:r>
                          <a:r>
                            <a:rPr lang="ru-RU" sz="1200" dirty="0"/>
                            <a:t> в выборке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Доля ошибок по </a:t>
                          </a:r>
                          <a:r>
                            <a:rPr lang="ru-RU" sz="1200" b="1" dirty="0"/>
                            <a:t>битам</a:t>
                          </a:r>
                          <a:r>
                            <a:rPr lang="ru-RU" sz="1200" dirty="0"/>
                            <a:t> меток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Высота </a:t>
                          </a:r>
                          <a:r>
                            <a:rPr lang="ru-RU" sz="1200" b="1" dirty="0"/>
                            <a:t>истинных</a:t>
                          </a:r>
                          <a:r>
                            <a:rPr lang="ru-RU" sz="1200" dirty="0"/>
                            <a:t> меток в ранге по </a:t>
                          </a:r>
                          <a:r>
                            <a:rPr lang="ru-RU" sz="1200" dirty="0" err="1"/>
                            <a:t>скору</a:t>
                          </a:r>
                          <a:endParaRPr lang="ru-RU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Полное совпадение всех меток — очень </a:t>
                          </a:r>
                          <a:r>
                            <a:rPr lang="ru-RU" sz="1200" b="1" dirty="0"/>
                            <a:t>строго</a:t>
                          </a:r>
                          <a:endParaRPr lang="ru-RU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6617820"/>
                      </a:ext>
                    </a:extLst>
                  </a:tr>
                  <a:tr h="15435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b="1" dirty="0"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Зачем важна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Баланс точности и полноты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Ключевая метрика</a:t>
                          </a:r>
                          <a:r>
                            <a:rPr lang="en-US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 </a:t>
                          </a:r>
                          <a:r>
                            <a:rPr lang="ru-RU" sz="1200" dirty="0">
                              <a:latin typeface="+mj-lt"/>
                            </a:rPr>
                            <a:t>при </a:t>
                          </a:r>
                          <a:r>
                            <a:rPr lang="ru-RU" sz="1200" b="1" dirty="0">
                              <a:latin typeface="+mj-lt"/>
                            </a:rPr>
                            <a:t>дисбалансе</a:t>
                          </a:r>
                          <a:r>
                            <a:rPr lang="ru" sz="1200" dirty="0">
                              <a:latin typeface="+mj-lt"/>
                              <a:ea typeface="Times New Roman"/>
                              <a:cs typeface="Times New Roman"/>
                              <a:sym typeface="Times New Roman"/>
                            </a:rPr>
                            <a:t> </a:t>
                          </a:r>
                          <a:endParaRPr lang="ru-RU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Рядом с </a:t>
                          </a:r>
                          <a:r>
                            <a:rPr lang="ru-RU" sz="1200" dirty="0" err="1"/>
                            <a:t>macro</a:t>
                          </a:r>
                          <a:r>
                            <a:rPr lang="ru-RU" sz="1200" dirty="0"/>
                            <a:t>: видно перекос на популярные ВРИ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Одно число между </a:t>
                          </a:r>
                          <a:r>
                            <a:rPr lang="ru-RU" sz="1200" dirty="0" err="1"/>
                            <a:t>macro</a:t>
                          </a:r>
                          <a:r>
                            <a:rPr lang="ru-RU" sz="1200" dirty="0"/>
                            <a:t> и </a:t>
                          </a:r>
                          <a:r>
                            <a:rPr lang="ru-RU" sz="1200" dirty="0" err="1"/>
                            <a:t>micro</a:t>
                          </a:r>
                          <a:r>
                            <a:rPr lang="ru-RU" sz="1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Простое дополнение к </a:t>
                          </a:r>
                          <a:r>
                            <a:rPr lang="en-US" sz="1200" dirty="0"/>
                            <a:t>F1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Если интересен порядок кандидатов по уверенности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Обычно низко; </a:t>
                          </a:r>
                          <a:r>
                            <a:rPr lang="ru-RU" sz="1200" b="1" dirty="0"/>
                            <a:t>не</a:t>
                          </a:r>
                          <a:r>
                            <a:rPr lang="ru-RU" sz="1200" dirty="0"/>
                            <a:t> подменяет macro-F1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58578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8140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75BB-663B-2759-10C7-458D4D3F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5C36044-5B78-AFEB-16ED-278B8C1B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Борьба с дисбалансом на уровне ML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D205C3E-47D8-B849-2741-E3DAE921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0DB55D-E068-09CE-08D9-F075435659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78C333B-23D9-311B-68DA-C23BE88B118A}"/>
              </a:ext>
            </a:extLst>
          </p:cNvPr>
          <p:cNvSpPr/>
          <p:nvPr/>
        </p:nvSpPr>
        <p:spPr>
          <a:xfrm>
            <a:off x="3227294" y="1621159"/>
            <a:ext cx="5737412" cy="7341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Единое разбиение датасета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(70/15/15)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multilabel-stratified, random_state = 42  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31882BC-1B30-8122-C542-7D8E0564B900}"/>
              </a:ext>
            </a:extLst>
          </p:cNvPr>
          <p:cNvSpPr/>
          <p:nvPr/>
        </p:nvSpPr>
        <p:spPr>
          <a:xfrm>
            <a:off x="1792941" y="2530756"/>
            <a:ext cx="8606117" cy="9524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Лексика (</a:t>
            </a:r>
            <a:r>
              <a:rPr lang="en-US" sz="2000" b="1" dirty="0">
                <a:solidFill>
                  <a:schemeClr val="tx1"/>
                </a:solidFill>
              </a:rPr>
              <a:t>TF–IDF)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LogReg </a:t>
            </a:r>
            <a:r>
              <a:rPr lang="ru-RU" dirty="0">
                <a:solidFill>
                  <a:schemeClr val="tx1"/>
                </a:solidFill>
              </a:rPr>
              <a:t>и </a:t>
            </a:r>
            <a:r>
              <a:rPr lang="en-US" dirty="0">
                <a:solidFill>
                  <a:schemeClr val="tx1"/>
                </a:solidFill>
              </a:rPr>
              <a:t>LinearSVC </a:t>
            </a:r>
            <a:r>
              <a:rPr lang="ru-RU" dirty="0">
                <a:solidFill>
                  <a:schemeClr val="tx1"/>
                </a:solidFill>
              </a:rPr>
              <a:t>—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class_weight</a:t>
            </a:r>
            <a:r>
              <a:rPr lang="en-US" dirty="0">
                <a:solidFill>
                  <a:schemeClr val="tx1"/>
                </a:solidFill>
              </a:rPr>
              <a:t> = balanced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LinearSVC:</a:t>
            </a:r>
            <a:r>
              <a:rPr lang="ru-RU" dirty="0">
                <a:solidFill>
                  <a:schemeClr val="tx1"/>
                </a:solidFill>
              </a:rPr>
              <a:t> подбор </a:t>
            </a:r>
            <a:r>
              <a:rPr lang="ru-RU" b="1" dirty="0">
                <a:solidFill>
                  <a:schemeClr val="tx1"/>
                </a:solidFill>
              </a:rPr>
              <a:t>порогов по классам</a:t>
            </a:r>
            <a:r>
              <a:rPr lang="ru-RU" dirty="0">
                <a:solidFill>
                  <a:schemeClr val="tx1"/>
                </a:solidFill>
              </a:rPr>
              <a:t> — без них macro-F1 резко падает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560FF57-FC2D-DB5F-6942-26BA04F1BEB9}"/>
              </a:ext>
            </a:extLst>
          </p:cNvPr>
          <p:cNvSpPr/>
          <p:nvPr/>
        </p:nvSpPr>
        <p:spPr>
          <a:xfrm>
            <a:off x="1039905" y="3658720"/>
            <a:ext cx="10076330" cy="9524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Трансформеры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Focal Loss</a:t>
            </a:r>
            <a:r>
              <a:rPr lang="ru-RU" dirty="0">
                <a:solidFill>
                  <a:schemeClr val="tx1"/>
                </a:solidFill>
              </a:rPr>
              <a:t> (α = 0,25, γ = 2) вместо обычной BCE — упор на редкие и пограничные коды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Длинные тексты — </a:t>
            </a:r>
            <a:r>
              <a:rPr lang="ru-RU" b="1" dirty="0" err="1">
                <a:solidFill>
                  <a:schemeClr val="tx1"/>
                </a:solidFill>
              </a:rPr>
              <a:t>чанкинг</a:t>
            </a:r>
            <a:r>
              <a:rPr lang="ru-RU" dirty="0">
                <a:solidFill>
                  <a:schemeClr val="tx1"/>
                </a:solidFill>
              </a:rPr>
              <a:t> (~</a:t>
            </a:r>
            <a:r>
              <a:rPr lang="ru-RU" b="1" dirty="0">
                <a:solidFill>
                  <a:schemeClr val="tx1"/>
                </a:solidFill>
              </a:rPr>
              <a:t>510</a:t>
            </a:r>
            <a:r>
              <a:rPr lang="ru-RU" dirty="0">
                <a:solidFill>
                  <a:schemeClr val="tx1"/>
                </a:solidFill>
              </a:rPr>
              <a:t> токенов), агрегация </a:t>
            </a:r>
            <a:r>
              <a:rPr lang="ru-RU" dirty="0" err="1">
                <a:solidFill>
                  <a:schemeClr val="tx1"/>
                </a:solidFill>
              </a:rPr>
              <a:t>скоров</a:t>
            </a:r>
            <a:r>
              <a:rPr lang="ru-RU" dirty="0">
                <a:solidFill>
                  <a:schemeClr val="tx1"/>
                </a:solidFill>
              </a:rPr>
              <a:t> (</a:t>
            </a:r>
            <a:r>
              <a:rPr lang="ru-RU" b="1" dirty="0">
                <a:solidFill>
                  <a:schemeClr val="tx1"/>
                </a:solidFill>
              </a:rPr>
              <a:t>max</a:t>
            </a:r>
            <a:r>
              <a:rPr lang="ru-RU" dirty="0">
                <a:solidFill>
                  <a:schemeClr val="tx1"/>
                </a:solidFill>
              </a:rPr>
              <a:t> по чанкам)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5D4A559-AD7D-5AED-1504-67CC12221992}"/>
              </a:ext>
            </a:extLst>
          </p:cNvPr>
          <p:cNvSpPr/>
          <p:nvPr/>
        </p:nvSpPr>
        <p:spPr>
          <a:xfrm>
            <a:off x="2492188" y="4786684"/>
            <a:ext cx="7189694" cy="9524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Пороги и критерий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ru-RU" b="1" dirty="0">
                <a:solidFill>
                  <a:schemeClr val="tx1"/>
                </a:solidFill>
              </a:rPr>
              <a:t>validation</a:t>
            </a:r>
            <a:r>
              <a:rPr lang="ru-RU" dirty="0">
                <a:solidFill>
                  <a:schemeClr val="tx1"/>
                </a:solidFill>
              </a:rPr>
              <a:t> — порог для каждого из </a:t>
            </a:r>
            <a:r>
              <a:rPr lang="ru-RU" b="1" dirty="0">
                <a:solidFill>
                  <a:schemeClr val="tx1"/>
                </a:solidFill>
              </a:rPr>
              <a:t>156</a:t>
            </a:r>
            <a:r>
              <a:rPr lang="ru-RU" dirty="0">
                <a:solidFill>
                  <a:schemeClr val="tx1"/>
                </a:solidFill>
              </a:rPr>
              <a:t> кодов (по </a:t>
            </a:r>
            <a:r>
              <a:rPr lang="ru-RU" b="1" dirty="0">
                <a:solidFill>
                  <a:schemeClr val="tx1"/>
                </a:solidFill>
              </a:rPr>
              <a:t>macro-F1</a:t>
            </a:r>
            <a:r>
              <a:rPr lang="ru-RU" dirty="0">
                <a:solidFill>
                  <a:schemeClr val="tx1"/>
                </a:solidFill>
              </a:rPr>
              <a:t>) 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Итоговая оценка и сравнение моделей — тоже по </a:t>
            </a:r>
            <a:r>
              <a:rPr lang="ru-RU" b="1" dirty="0">
                <a:solidFill>
                  <a:schemeClr val="tx1"/>
                </a:solidFill>
              </a:rPr>
              <a:t>macro-F1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973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23E-128D-8B39-D29F-7D577DC7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20F1B9C-B868-FDC7-2D3F-76D066E4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Результаты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27E4CC2-9D41-A265-9FBD-3C243A57C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446168"/>
              </p:ext>
            </p:extLst>
          </p:nvPr>
        </p:nvGraphicFramePr>
        <p:xfrm>
          <a:off x="1039906" y="1290918"/>
          <a:ext cx="10103223" cy="4921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19">
                  <a:extLst>
                    <a:ext uri="{9D8B030D-6E8A-4147-A177-3AD203B41FA5}">
                      <a16:colId xmlns:a16="http://schemas.microsoft.com/office/drawing/2014/main" val="3199069052"/>
                    </a:ext>
                  </a:extLst>
                </a:gridCol>
                <a:gridCol w="1206719">
                  <a:extLst>
                    <a:ext uri="{9D8B030D-6E8A-4147-A177-3AD203B41FA5}">
                      <a16:colId xmlns:a16="http://schemas.microsoft.com/office/drawing/2014/main" val="3855967912"/>
                    </a:ext>
                  </a:extLst>
                </a:gridCol>
                <a:gridCol w="1343846">
                  <a:extLst>
                    <a:ext uri="{9D8B030D-6E8A-4147-A177-3AD203B41FA5}">
                      <a16:colId xmlns:a16="http://schemas.microsoft.com/office/drawing/2014/main" val="2601309311"/>
                    </a:ext>
                  </a:extLst>
                </a:gridCol>
                <a:gridCol w="1407839">
                  <a:extLst>
                    <a:ext uri="{9D8B030D-6E8A-4147-A177-3AD203B41FA5}">
                      <a16:colId xmlns:a16="http://schemas.microsoft.com/office/drawing/2014/main" val="1143631163"/>
                    </a:ext>
                  </a:extLst>
                </a:gridCol>
                <a:gridCol w="1453548">
                  <a:extLst>
                    <a:ext uri="{9D8B030D-6E8A-4147-A177-3AD203B41FA5}">
                      <a16:colId xmlns:a16="http://schemas.microsoft.com/office/drawing/2014/main" val="434067970"/>
                    </a:ext>
                  </a:extLst>
                </a:gridCol>
                <a:gridCol w="1106158">
                  <a:extLst>
                    <a:ext uri="{9D8B030D-6E8A-4147-A177-3AD203B41FA5}">
                      <a16:colId xmlns:a16="http://schemas.microsoft.com/office/drawing/2014/main" val="2249223370"/>
                    </a:ext>
                  </a:extLst>
                </a:gridCol>
                <a:gridCol w="1263094">
                  <a:extLst>
                    <a:ext uri="{9D8B030D-6E8A-4147-A177-3AD203B41FA5}">
                      <a16:colId xmlns:a16="http://schemas.microsoft.com/office/drawing/2014/main" val="1534598137"/>
                    </a:ext>
                  </a:extLst>
                </a:gridCol>
              </a:tblGrid>
              <a:tr h="2979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Модель 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macro-F1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micro-F1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weighted-F1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Hamming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LRAP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Exact match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77135"/>
                  </a:ext>
                </a:extLst>
              </a:tr>
              <a:tr h="346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/>
                        <a:t>bert_</a:t>
                      </a:r>
                      <a:r>
                        <a:rPr lang="en-US" sz="1200" b="1" dirty="0" err="1">
                          <a:effectLst/>
                        </a:rPr>
                        <a:t>ensemble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0,834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0,843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0,844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0,00282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0,904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0,746</a:t>
                      </a:r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231359"/>
                  </a:ext>
                </a:extLst>
              </a:tr>
              <a:tr h="297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bert_large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0,00288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0,743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17820"/>
                  </a:ext>
                </a:extLst>
              </a:tr>
              <a:tr h="503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bert_rubert_sts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0,830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857825"/>
                  </a:ext>
                </a:extLst>
              </a:tr>
              <a:tr h="438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ruroberta_large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349173"/>
                  </a:ext>
                </a:extLst>
              </a:tr>
              <a:tr h="297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bert_base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249937"/>
                  </a:ext>
                </a:extLst>
              </a:tr>
              <a:tr h="484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tfidf_linearsvc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0,00430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0,612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807547"/>
                  </a:ext>
                </a:extLst>
              </a:tr>
              <a:tr h="421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emb_bge_m3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0,747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0,00408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0,581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74027"/>
                  </a:ext>
                </a:extLst>
              </a:tr>
              <a:tr h="524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emb_sbert_large_nlu_ru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0,00476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0,537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201912"/>
                  </a:ext>
                </a:extLst>
              </a:tr>
              <a:tr h="477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lightgbm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0,00534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0,546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90171"/>
                  </a:ext>
                </a:extLst>
              </a:tr>
              <a:tr h="5324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emb_minilm_multilingual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0,00531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0,511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003448"/>
                  </a:ext>
                </a:extLst>
              </a:tr>
              <a:tr h="297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tfidf_logreg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0,281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0,03928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0,528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0,016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062062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111DA73-94C7-8192-8275-70C73733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BF3882-3B3A-E9D0-9C46-41E2057359FF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906FBF-3DD0-3CE1-8CEC-F21A2372FB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18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3AED-23FB-2FC2-C2D8-1126205F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0357CD4-B129-77E1-2DA5-2309809F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Результаты </a:t>
            </a:r>
            <a:r>
              <a:rPr lang="en-US" b="1" dirty="0" err="1"/>
              <a:t>logreg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7615D72-7CC5-F4E9-8261-56D7A6B7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0DA5C-D7D8-BB89-B3C2-FFF5CD398E3A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6CE6CE-C184-3EA5-AD6F-4B2F199D71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AE54B23-E2EE-EDE5-DCA9-DE993510F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68386"/>
              </p:ext>
            </p:extLst>
          </p:nvPr>
        </p:nvGraphicFramePr>
        <p:xfrm>
          <a:off x="1209135" y="1475117"/>
          <a:ext cx="9773730" cy="4248570"/>
        </p:xfrm>
        <a:graphic>
          <a:graphicData uri="http://schemas.openxmlformats.org/drawingml/2006/table">
            <a:tbl>
              <a:tblPr firstRow="1" bandRow="1"/>
              <a:tblGrid>
                <a:gridCol w="1628955">
                  <a:extLst>
                    <a:ext uri="{9D8B030D-6E8A-4147-A177-3AD203B41FA5}">
                      <a16:colId xmlns:a16="http://schemas.microsoft.com/office/drawing/2014/main" val="3479048039"/>
                    </a:ext>
                  </a:extLst>
                </a:gridCol>
                <a:gridCol w="1628955">
                  <a:extLst>
                    <a:ext uri="{9D8B030D-6E8A-4147-A177-3AD203B41FA5}">
                      <a16:colId xmlns:a16="http://schemas.microsoft.com/office/drawing/2014/main" val="3992861846"/>
                    </a:ext>
                  </a:extLst>
                </a:gridCol>
                <a:gridCol w="1628955">
                  <a:extLst>
                    <a:ext uri="{9D8B030D-6E8A-4147-A177-3AD203B41FA5}">
                      <a16:colId xmlns:a16="http://schemas.microsoft.com/office/drawing/2014/main" val="793592560"/>
                    </a:ext>
                  </a:extLst>
                </a:gridCol>
                <a:gridCol w="1628955">
                  <a:extLst>
                    <a:ext uri="{9D8B030D-6E8A-4147-A177-3AD203B41FA5}">
                      <a16:colId xmlns:a16="http://schemas.microsoft.com/office/drawing/2014/main" val="3989550479"/>
                    </a:ext>
                  </a:extLst>
                </a:gridCol>
                <a:gridCol w="1628955">
                  <a:extLst>
                    <a:ext uri="{9D8B030D-6E8A-4147-A177-3AD203B41FA5}">
                      <a16:colId xmlns:a16="http://schemas.microsoft.com/office/drawing/2014/main" val="143952497"/>
                    </a:ext>
                  </a:extLst>
                </a:gridCol>
                <a:gridCol w="1628955">
                  <a:extLst>
                    <a:ext uri="{9D8B030D-6E8A-4147-A177-3AD203B41FA5}">
                      <a16:colId xmlns:a16="http://schemas.microsoft.com/office/drawing/2014/main" val="3546412629"/>
                    </a:ext>
                  </a:extLst>
                </a:gridCol>
              </a:tblGrid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 macro-F1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macro-F1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max_features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ngram_range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60191"/>
                  </a:ext>
                </a:extLst>
              </a:tr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tfidf_logreg_grid_05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11694"/>
                  </a:ext>
                </a:extLst>
              </a:tr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tfidf_logreg_grid_00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87180"/>
                  </a:ext>
                </a:extLst>
              </a:tr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tfidf_logreg_grid_07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0,309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46240"/>
                  </a:ext>
                </a:extLst>
              </a:tr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tfidf_logreg_grid_01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0,297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0,293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538341"/>
                  </a:ext>
                </a:extLst>
              </a:tr>
              <a:tr h="708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tfidf_logreg_grid_03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0,294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0,286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4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785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124D-BCAF-1AF7-0FBC-3596351D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413C8FEC-F21F-34D0-FA25-C37D85DA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Результаты</a:t>
            </a:r>
            <a:r>
              <a:rPr lang="en-US" b="1" dirty="0"/>
              <a:t> </a:t>
            </a:r>
            <a:r>
              <a:rPr lang="en-US" b="1" dirty="0" err="1"/>
              <a:t>linearsvc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73BC91C-A3E5-8D83-C5B3-45E8A903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6416E-7363-56BE-D3BF-CB4172CCF64C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CF3906-D95D-8FC9-94B1-AB654BF46E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90DEE74-ABA3-678A-0F73-B6454AE7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14014"/>
              </p:ext>
            </p:extLst>
          </p:nvPr>
        </p:nvGraphicFramePr>
        <p:xfrm>
          <a:off x="949623" y="1827237"/>
          <a:ext cx="10292754" cy="3610740"/>
        </p:xfrm>
        <a:graphic>
          <a:graphicData uri="http://schemas.openxmlformats.org/drawingml/2006/table">
            <a:tbl>
              <a:tblPr firstRow="1" bandRow="1"/>
              <a:tblGrid>
                <a:gridCol w="1715459">
                  <a:extLst>
                    <a:ext uri="{9D8B030D-6E8A-4147-A177-3AD203B41FA5}">
                      <a16:colId xmlns:a16="http://schemas.microsoft.com/office/drawing/2014/main" val="3479048039"/>
                    </a:ext>
                  </a:extLst>
                </a:gridCol>
                <a:gridCol w="1715459">
                  <a:extLst>
                    <a:ext uri="{9D8B030D-6E8A-4147-A177-3AD203B41FA5}">
                      <a16:colId xmlns:a16="http://schemas.microsoft.com/office/drawing/2014/main" val="3992861846"/>
                    </a:ext>
                  </a:extLst>
                </a:gridCol>
                <a:gridCol w="1715459">
                  <a:extLst>
                    <a:ext uri="{9D8B030D-6E8A-4147-A177-3AD203B41FA5}">
                      <a16:colId xmlns:a16="http://schemas.microsoft.com/office/drawing/2014/main" val="793592560"/>
                    </a:ext>
                  </a:extLst>
                </a:gridCol>
                <a:gridCol w="1715459">
                  <a:extLst>
                    <a:ext uri="{9D8B030D-6E8A-4147-A177-3AD203B41FA5}">
                      <a16:colId xmlns:a16="http://schemas.microsoft.com/office/drawing/2014/main" val="3989550479"/>
                    </a:ext>
                  </a:extLst>
                </a:gridCol>
                <a:gridCol w="1715459">
                  <a:extLst>
                    <a:ext uri="{9D8B030D-6E8A-4147-A177-3AD203B41FA5}">
                      <a16:colId xmlns:a16="http://schemas.microsoft.com/office/drawing/2014/main" val="143952497"/>
                    </a:ext>
                  </a:extLst>
                </a:gridCol>
                <a:gridCol w="1715459">
                  <a:extLst>
                    <a:ext uri="{9D8B030D-6E8A-4147-A177-3AD203B41FA5}">
                      <a16:colId xmlns:a16="http://schemas.microsoft.com/office/drawing/2014/main" val="3546412629"/>
                    </a:ext>
                  </a:extLst>
                </a:gridCol>
              </a:tblGrid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 macro-F1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macro-F1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max_features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ngram_range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60191"/>
                  </a:ext>
                </a:extLst>
              </a:tr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tfidf_linearsvc_19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11694"/>
                  </a:ext>
                </a:extLst>
              </a:tr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tfidf_linearsvc_07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87180"/>
                  </a:ext>
                </a:extLst>
              </a:tr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tfidf_linearsvc_23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(1, 4)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46240"/>
                  </a:ext>
                </a:extLst>
              </a:tr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tfidf_linearsvc_11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(1, 4)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538341"/>
                  </a:ext>
                </a:extLst>
              </a:tr>
              <a:tr h="6017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tfidf_linearsvc_02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0,749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75 000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(1, 3)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4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87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859A0-3FB8-A968-640E-FCD3165E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E2F59E8-D780-9676-6391-B2C1671D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Результаты</a:t>
            </a:r>
            <a:r>
              <a:rPr lang="en-US" b="1" dirty="0"/>
              <a:t> </a:t>
            </a:r>
            <a:r>
              <a:rPr lang="en-US" b="1" dirty="0" err="1"/>
              <a:t>lightgbm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C7F3135-77AA-FFB8-33D8-EA3DD59B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E173E-D38C-5D0C-BDCA-C0583F698BC4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35D581-252C-B641-B6D7-64F4D98F0E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F2CE4277-E179-44C1-603C-871717814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2965"/>
              </p:ext>
            </p:extLst>
          </p:nvPr>
        </p:nvGraphicFramePr>
        <p:xfrm>
          <a:off x="1166004" y="1716655"/>
          <a:ext cx="9859992" cy="3838752"/>
        </p:xfrm>
        <a:graphic>
          <a:graphicData uri="http://schemas.openxmlformats.org/drawingml/2006/table">
            <a:tbl>
              <a:tblPr firstRow="1" bandRow="1"/>
              <a:tblGrid>
                <a:gridCol w="1643332">
                  <a:extLst>
                    <a:ext uri="{9D8B030D-6E8A-4147-A177-3AD203B41FA5}">
                      <a16:colId xmlns:a16="http://schemas.microsoft.com/office/drawing/2014/main" val="3479048039"/>
                    </a:ext>
                  </a:extLst>
                </a:gridCol>
                <a:gridCol w="1643332">
                  <a:extLst>
                    <a:ext uri="{9D8B030D-6E8A-4147-A177-3AD203B41FA5}">
                      <a16:colId xmlns:a16="http://schemas.microsoft.com/office/drawing/2014/main" val="3992861846"/>
                    </a:ext>
                  </a:extLst>
                </a:gridCol>
                <a:gridCol w="1643332">
                  <a:extLst>
                    <a:ext uri="{9D8B030D-6E8A-4147-A177-3AD203B41FA5}">
                      <a16:colId xmlns:a16="http://schemas.microsoft.com/office/drawing/2014/main" val="793592560"/>
                    </a:ext>
                  </a:extLst>
                </a:gridCol>
                <a:gridCol w="1643332">
                  <a:extLst>
                    <a:ext uri="{9D8B030D-6E8A-4147-A177-3AD203B41FA5}">
                      <a16:colId xmlns:a16="http://schemas.microsoft.com/office/drawing/2014/main" val="3989550479"/>
                    </a:ext>
                  </a:extLst>
                </a:gridCol>
                <a:gridCol w="1643332">
                  <a:extLst>
                    <a:ext uri="{9D8B030D-6E8A-4147-A177-3AD203B41FA5}">
                      <a16:colId xmlns:a16="http://schemas.microsoft.com/office/drawing/2014/main" val="143952497"/>
                    </a:ext>
                  </a:extLst>
                </a:gridCol>
                <a:gridCol w="1643332">
                  <a:extLst>
                    <a:ext uri="{9D8B030D-6E8A-4147-A177-3AD203B41FA5}">
                      <a16:colId xmlns:a16="http://schemas.microsoft.com/office/drawing/2014/main" val="3546412629"/>
                    </a:ext>
                  </a:extLst>
                </a:gridCol>
              </a:tblGrid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 macro-F1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macro-F1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num_leaves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learning_rate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n_estimators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60191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11694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0,682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87180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46240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0,681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538341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0,708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0,677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45226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0,674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356836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0,694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0,665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850831"/>
                  </a:ext>
                </a:extLst>
              </a:tr>
              <a:tr h="426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lightgbm_grid_04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0,657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71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871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629E-82EA-E9E3-4C17-515532E7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128A5AB-0E14-A9BB-92D2-66EC94F1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en-US" b="1" dirty="0"/>
              <a:t>ERD</a:t>
            </a:r>
            <a:endParaRPr lang="ru-RU" b="1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3C7795E-8131-B4CE-3CA6-7721C33D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D5E74-B164-96AB-2768-269EBB778277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C9225E-7855-6D39-06AE-EB96D9F19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61A8515-05DA-999A-9897-4437075D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19" y="1276724"/>
            <a:ext cx="8898720" cy="49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507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F776A-97CF-CC73-B3D8-514D6E4E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DEAD3F9-40A3-6710-9FD3-A36FD889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Диаграммы последовательности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4BFF215-0EA2-E112-800C-556F0600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28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1B5F8-D859-FD4C-5E48-EE6003DD7BA4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940170-3928-7A16-0840-6AF8FAD3D8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9B93CA-88A0-64A6-99F6-2D61AD273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13" y="1809972"/>
            <a:ext cx="9305243" cy="383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34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659F-F672-0D72-5A10-3FEF1865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B71CC13-F11C-C294-7667-7FA49909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520" y="145152"/>
            <a:ext cx="10183368" cy="952499"/>
          </a:xfrm>
        </p:spPr>
        <p:txBody>
          <a:bodyPr>
            <a:normAutofit/>
          </a:bodyPr>
          <a:lstStyle/>
          <a:p>
            <a:r>
              <a:rPr lang="ru-RU" b="1" dirty="0"/>
              <a:t>Диаграммы последовательности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30EBFF3-2FE8-057F-3EE8-E7E7800D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29</a:t>
            </a:fld>
            <a:endParaRPr lang="ru-RU" sz="28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F7D55-EC05-34BC-6522-647BFFA744EE}"/>
              </a:ext>
            </a:extLst>
          </p:cNvPr>
          <p:cNvSpPr txBox="1"/>
          <p:nvPr/>
        </p:nvSpPr>
        <p:spPr>
          <a:xfrm>
            <a:off x="1424354" y="2312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0B6B28-CF98-C795-9B00-93B7B79F95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C4DA98-7A6C-7D51-2A46-2E5520DF2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85" y="1089025"/>
            <a:ext cx="6991429" cy="549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769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2835</TotalTime>
  <Words>1665</Words>
  <Application>Microsoft Office PowerPoint</Application>
  <PresentationFormat>Широкоэкранный</PresentationFormat>
  <Paragraphs>480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Тема Office</vt:lpstr>
      <vt:lpstr>Презентация PowerPoint</vt:lpstr>
      <vt:lpstr>Проблематика и актуальность</vt:lpstr>
      <vt:lpstr>Цель и задачи</vt:lpstr>
      <vt:lpstr>Классификатор ВРИ </vt:lpstr>
      <vt:lpstr>Источник текстов — НСПД</vt:lpstr>
      <vt:lpstr>Подготовка данных для обучения</vt:lpstr>
      <vt:lpstr>План сравнение методов  </vt:lpstr>
      <vt:lpstr>Результаты</vt:lpstr>
      <vt:lpstr>Решение — архитектура</vt:lpstr>
      <vt:lpstr>Веб-приложение и API — функции</vt:lpstr>
      <vt:lpstr>Тестирование</vt:lpstr>
      <vt:lpstr>Практическая значимость</vt:lpstr>
      <vt:lpstr>Демонстрация сайта</vt:lpstr>
      <vt:lpstr>Демонстрация сайта</vt:lpstr>
      <vt:lpstr>Демонстрация сайта</vt:lpstr>
      <vt:lpstr>Выводы</vt:lpstr>
      <vt:lpstr>Спасибо за внимание!</vt:lpstr>
      <vt:lpstr>Проблемы разметки</vt:lpstr>
      <vt:lpstr>Данные для обучения</vt:lpstr>
      <vt:lpstr>Данные для обучения</vt:lpstr>
      <vt:lpstr>Используемые метрики</vt:lpstr>
      <vt:lpstr>Борьба с дисбалансом на уровне ML</vt:lpstr>
      <vt:lpstr>Результаты</vt:lpstr>
      <vt:lpstr>Результаты logreg</vt:lpstr>
      <vt:lpstr>Результаты linearsvc</vt:lpstr>
      <vt:lpstr>Результаты lightgbm</vt:lpstr>
      <vt:lpstr>ERD</vt:lpstr>
      <vt:lpstr>Диаграммы последовательности</vt:lpstr>
      <vt:lpstr>Диаграммы последовательности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Konstantin Telenkov</dc:creator>
  <cp:lastModifiedBy>Gromozeka</cp:lastModifiedBy>
  <cp:revision>38</cp:revision>
  <dcterms:created xsi:type="dcterms:W3CDTF">2026-05-13T09:05:02Z</dcterms:created>
  <dcterms:modified xsi:type="dcterms:W3CDTF">2026-05-25T05:47:13Z</dcterms:modified>
</cp:coreProperties>
</file>