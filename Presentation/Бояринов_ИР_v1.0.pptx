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90" r:id="rId10"/>
    <p:sldId id="291" r:id="rId11"/>
    <p:sldId id="285" r:id="rId12"/>
    <p:sldId id="292" r:id="rId13"/>
    <p:sldId id="286" r:id="rId14"/>
    <p:sldId id="293" r:id="rId15"/>
    <p:sldId id="287" r:id="rId16"/>
    <p:sldId id="294" r:id="rId17"/>
    <p:sldId id="288" r:id="rId18"/>
    <p:sldId id="289" r:id="rId19"/>
    <p:sldId id="298" r:id="rId20"/>
    <p:sldId id="295" r:id="rId21"/>
    <p:sldId id="29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omozeka" initials="G" lastIdx="1" clrIdx="0">
    <p:extLst>
      <p:ext uri="{19B8F6BF-5375-455C-9EA6-DF929625EA0E}">
        <p15:presenceInfo xmlns:p15="http://schemas.microsoft.com/office/powerpoint/2012/main" userId="Gromoze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DA"/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C3679-37FA-463F-BBE0-3397DA5C05B0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244EF-206B-4C3D-84D6-AA67BD153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5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Полёт без NAV возможен; координаты для мониторинга нужны; борт не дорабатываем.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Типовые методы требуют борта или инфраструктуры.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RC + видео на ПК; локализация по трассе; Record/Replay.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5 задач; критерий p90 &lt; 15 м.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4 блока; вычисления на земле.</a:t>
            </a:r>
          </a:p>
          <a:p>
            <a:r>
              <a:t>Время: 0:35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Типовой FPV-стенд; единая временная шкала.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Референс .npz; состояние (s, v).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Суть</a:t>
            </a:r>
            <a:r>
              <a:rPr dirty="0"/>
              <a:t>: p90; 12 </a:t>
            </a:r>
            <a:r>
              <a:rPr dirty="0" err="1"/>
              <a:t>экспериментов</a:t>
            </a:r>
            <a:r>
              <a:rPr dirty="0"/>
              <a:t> в 4 </a:t>
            </a:r>
            <a:r>
              <a:rPr dirty="0" err="1"/>
              <a:t>блоках</a:t>
            </a:r>
            <a:r>
              <a:rPr dirty="0"/>
              <a:t>.</a:t>
            </a:r>
          </a:p>
          <a:p>
            <a:r>
              <a:rPr dirty="0" err="1"/>
              <a:t>Время</a:t>
            </a:r>
            <a:r>
              <a:rPr dirty="0"/>
              <a:t>: 0:35</a:t>
            </a:r>
          </a:p>
          <a:p>
            <a:r>
              <a:rPr dirty="0" err="1"/>
              <a:t>Блок</a:t>
            </a:r>
            <a:r>
              <a:rPr dirty="0"/>
              <a:t>: </a:t>
            </a:r>
            <a:r>
              <a:rPr dirty="0" err="1"/>
              <a:t>Блок</a:t>
            </a:r>
            <a:r>
              <a:rPr dirty="0"/>
              <a:t> 5 · </a:t>
            </a:r>
            <a:r>
              <a:rPr dirty="0" err="1"/>
              <a:t>эксперименты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PF; cross-drone p90 = 7,8 м.</a:t>
            </a:r>
          </a:p>
          <a:p>
            <a:r>
              <a:t>Время: 0:45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PF — основной алгоритм; KFLayer2 поверх.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Качество референса важнее same-drone.</a:t>
            </a:r>
          </a:p>
          <a:p>
            <a:r>
              <a:t>Время: 0:45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YOLO→PnP→inject; модуль опционален.</a:t>
            </a:r>
          </a:p>
          <a:p>
            <a:r>
              <a:t>Время: 0:25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Real track OK; камера offline.</a:t>
            </a:r>
          </a:p>
          <a:p>
            <a:r>
              <a:t>Время: 0:50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Модули; воспроизводимая сессия.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Критерий выполнен; базовая конфигурация зафиксирована.</a:t>
            </a:r>
          </a:p>
          <a:p>
            <a:r>
              <a:t>Время: 0:35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Record и Replay с HUD и картой.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Геопривязка; MAVLink; p90 vs p95/HEPU.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Критерий выполнен; базовая конфигурация зафиксирована.</a:t>
            </a:r>
          </a:p>
          <a:p>
            <a:r>
              <a:t>Время: 0:35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0203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Итог, ограничения, публикации.</a:t>
            </a:r>
          </a:p>
          <a:p>
            <a:r>
              <a:t>Время: 1:00</a:t>
            </a:r>
          </a:p>
          <a:p>
            <a:r>
              <a:t>Блок: Блок 6 · заключение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E4DF2-A352-AB65-0EE0-EAF51545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D226D0-65E7-D55F-FE11-E0A244056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DEE95-E01F-FD55-AFBF-A82E618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67D5F-02A7-4A83-C4A2-2B6FC997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C7B0E-30CD-857C-AF9D-825C1A23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3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4EC09-9C5B-7D96-30FC-04A8CF1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9493F-2547-DA35-2B91-8069F40E4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5514A-E09E-8FC3-1912-B3AE225C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80C9BE-2E58-AADA-16FA-C5993972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9A7AB-3B2C-4524-E960-04ACAD8B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7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12A01-F25E-6B9E-E99A-91EBAB7B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62AA44-5596-873D-205D-7F12D0A0B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46054-F8DF-7E3D-B158-9ACDB375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1CEBAE-0AC6-E1E6-B500-6E6D0CB2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EC1FD9-B85B-B89F-A856-8F3C21C8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15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F07F1-BCF4-5BFF-3889-71B5D454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5DE1-9C19-9103-02C5-1AB8067F6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7A90FA-1B01-E7A1-A089-9D8FB3A5A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D88EA8-AF71-869F-96DC-0ACF6849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8ADE58-86E6-6426-40AE-3D8E56DB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04D35-1C68-3883-5978-9C81E60F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6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7A91-8F00-B9E9-F940-D676F29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2D52B4-7DB0-51B1-0E2C-5D244575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05FBA8-9A60-1AE2-49A4-CAEE6B45F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E99938-F383-97A8-691D-1E36F8219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478C05-9D2E-E217-F097-DF9E7171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8CF75F-AF99-B997-CEFB-CF562904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D62C2D-60F9-8EEC-1988-AC080D24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3FC2F6-55B6-BEA4-9457-2BD9956D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8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E9F03-49C0-32D6-0918-5AFE8EE1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D2D6FE-EE15-CD1A-96FB-EB4EB281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146442-3A2B-F73C-B6B8-A1DCE35D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966552-CD63-E5C4-4C85-2131BE48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2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4D6A1A-9D98-19F1-A94B-BDF647F1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69C8B3-8EAD-D2FF-08B6-97B37408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792BF6-C27C-3868-5B9D-98A82CAB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5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879F2-9547-3C0B-D1E6-EF0D06F4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8D36B-FF9E-0F3B-6DD6-B3887490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C1CC49-4134-2F5E-024B-0E2F5BC72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844674-E2B4-A2E3-5EE4-FF6230F4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ED882E-9358-B225-C604-57D5841A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E20930-C266-21EF-B479-A8BEBD58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99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407EC-029E-A5CA-B887-89E00DC5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724AC6-967B-9ABD-74D3-3CE59CA35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EB802F-55AA-0D33-FB0C-2C2F8AFA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1532BE-19EB-90B0-D966-04260994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2DD2D9-687C-6365-D31A-2E59F632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4BE98-6D94-FD4B-F5A9-AA130AFC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26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62A31-BA85-BADF-2F53-4594BCAC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DB95DD-747F-188A-731F-7D76C041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7957D4-6A94-D946-D2C4-9A31E2DF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C1EC92-37C3-E29B-7EE4-37E24602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77957B-EE9C-E3C0-5E29-7F8B7D67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37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34CC22-6EBD-7F0D-4ACE-C624234E6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AA80A8-DDE5-3F3A-210A-C12F0424E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BBCEC-6518-1703-B618-8DAF0485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DF217-686A-2395-B84D-6B1ADA48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012CB-C587-AB15-4FF6-869B95A2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83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FCF90-8AC4-337C-A510-ECF54357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4F354-430D-C8A3-9DD1-70F36CEE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6136E3-D57D-CF3F-E410-129D289E1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22F89-142C-43F6-7CC0-41F1B6200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0A4A5-7B07-D230-CC96-38A66F1DE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67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470223-B86F-4DD5-A33D-9A9912323163}"/>
              </a:ext>
            </a:extLst>
          </p:cNvPr>
          <p:cNvSpPr txBox="1">
            <a:spLocks/>
          </p:cNvSpPr>
          <p:nvPr/>
        </p:nvSpPr>
        <p:spPr>
          <a:xfrm>
            <a:off x="658813" y="2349437"/>
            <a:ext cx="10874375" cy="2159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Разработка системы отслеживания БВС с использованием данных с рычагов управления и видеопотока с курсовой камеры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BE2B0D7-0E27-48E3-929E-48043968E2FA}"/>
              </a:ext>
            </a:extLst>
          </p:cNvPr>
          <p:cNvSpPr txBox="1">
            <a:spLocks/>
          </p:cNvSpPr>
          <p:nvPr/>
        </p:nvSpPr>
        <p:spPr>
          <a:xfrm>
            <a:off x="1308100" y="-1"/>
            <a:ext cx="9575799" cy="2222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2000" dirty="0"/>
              <a:t>Министерство науки и высшего образования Российской Федерации</a:t>
            </a:r>
            <a:br>
              <a:rPr lang="ru-RU" sz="2000" dirty="0"/>
            </a:br>
            <a:r>
              <a:rPr lang="ru-RU" sz="2000" dirty="0"/>
              <a:t>Федеральное государственное автономное образовательное учреждение 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высшего образования</a:t>
            </a:r>
            <a:br>
              <a:rPr lang="ru-RU" sz="2000" dirty="0"/>
            </a:br>
            <a:r>
              <a:rPr lang="ru-RU" sz="2000" dirty="0"/>
              <a:t>«Московский авиационный институт (национальный исследовательский университет)»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(МАИ)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A7B9310-9BE3-42DE-9A60-ADF950BBF270}"/>
              </a:ext>
            </a:extLst>
          </p:cNvPr>
          <p:cNvSpPr txBox="1">
            <a:spLocks/>
          </p:cNvSpPr>
          <p:nvPr/>
        </p:nvSpPr>
        <p:spPr>
          <a:xfrm>
            <a:off x="3376613" y="4991649"/>
            <a:ext cx="8156575" cy="1866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b="1" u="sng" dirty="0"/>
              <a:t>Выполнил: </a:t>
            </a:r>
          </a:p>
          <a:p>
            <a:pPr algn="r"/>
            <a:r>
              <a:rPr lang="ru-RU" sz="2000" dirty="0"/>
              <a:t>студент группы М3О-218СВ-24 Бояринов И.Р.</a:t>
            </a:r>
          </a:p>
          <a:p>
            <a:pPr algn="r"/>
            <a:r>
              <a:rPr lang="ru-RU" sz="2000" b="1" u="sng" dirty="0"/>
              <a:t>Научный руководитель: </a:t>
            </a:r>
          </a:p>
          <a:p>
            <a:pPr algn="r"/>
            <a:r>
              <a:rPr lang="ru-RU" sz="2000" dirty="0"/>
              <a:t>к.т.н., доценты каф.307 </a:t>
            </a:r>
            <a:r>
              <a:rPr lang="ru-RU" sz="2000" dirty="0" err="1"/>
              <a:t>Хайрнасов</a:t>
            </a:r>
            <a:r>
              <a:rPr lang="ru-RU" sz="2000" dirty="0"/>
              <a:t> К. З.​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42624F-A2C9-4DE1-8E3C-71E411C81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3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71F750B-91CB-38C0-C490-77FB83DA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/>
          <a:p>
            <a:pPr>
              <a:defRPr sz="2800">
                <a:latin typeface="Arial"/>
              </a:defRPr>
            </a:pPr>
            <a:r>
              <a:rPr b="1" dirty="0" err="1"/>
              <a:t>Проблема</a:t>
            </a:r>
            <a:r>
              <a:rPr b="1" dirty="0"/>
              <a:t> </a:t>
            </a:r>
            <a:r>
              <a:rPr b="1" dirty="0" err="1"/>
              <a:t>мониторинга</a:t>
            </a:r>
            <a:r>
              <a:rPr lang="ru-RU" b="1" dirty="0"/>
              <a:t> </a:t>
            </a:r>
            <a:r>
              <a:rPr lang="en-US" b="1" dirty="0"/>
              <a:t>FPV</a:t>
            </a:r>
            <a:r>
              <a:rPr lang="ru-RU" b="1" dirty="0"/>
              <a:t>-БВС</a:t>
            </a:r>
            <a:endParaRPr b="1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4447308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Малоразмерный</a:t>
            </a:r>
            <a:r>
              <a:rPr sz="1400" dirty="0"/>
              <a:t> FPV-БВС </a:t>
            </a:r>
            <a:r>
              <a:rPr sz="1400" dirty="0" err="1"/>
              <a:t>может</a:t>
            </a:r>
            <a:r>
              <a:rPr sz="1400" dirty="0"/>
              <a:t> </a:t>
            </a:r>
            <a:r>
              <a:rPr sz="1400" dirty="0" err="1"/>
              <a:t>летать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бортовой</a:t>
            </a:r>
            <a:r>
              <a:rPr sz="1400" dirty="0"/>
              <a:t> </a:t>
            </a:r>
            <a:r>
              <a:rPr sz="1400" dirty="0" err="1"/>
              <a:t>навигации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координат</a:t>
            </a:r>
            <a:r>
              <a:rPr sz="1400" dirty="0"/>
              <a:t> </a:t>
            </a:r>
            <a:r>
              <a:rPr sz="1400" dirty="0" err="1"/>
              <a:t>нет</a:t>
            </a:r>
            <a:r>
              <a:rPr sz="1400" dirty="0"/>
              <a:t> </a:t>
            </a:r>
            <a:r>
              <a:rPr sz="1400" dirty="0" err="1"/>
              <a:t>контроля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 и </a:t>
            </a:r>
            <a:r>
              <a:rPr sz="1400" dirty="0" err="1"/>
              <a:t>передачи</a:t>
            </a:r>
            <a:r>
              <a:rPr sz="1400" dirty="0"/>
              <a:t> в </a:t>
            </a:r>
            <a:r>
              <a:rPr sz="1400" dirty="0" err="1"/>
              <a:t>системы</a:t>
            </a:r>
            <a:r>
              <a:rPr sz="1400" dirty="0"/>
              <a:t> </a:t>
            </a:r>
            <a:r>
              <a:rPr sz="1400" dirty="0" err="1"/>
              <a:t>мониторинга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Уже</a:t>
            </a:r>
            <a:r>
              <a:rPr sz="1400" dirty="0"/>
              <a:t> </a:t>
            </a:r>
            <a:r>
              <a:rPr sz="1400" dirty="0" err="1"/>
              <a:t>доступны</a:t>
            </a:r>
            <a:r>
              <a:rPr sz="1400" dirty="0"/>
              <a:t>: RC-</a:t>
            </a:r>
            <a:r>
              <a:rPr sz="1400" dirty="0" err="1"/>
              <a:t>каналы</a:t>
            </a:r>
            <a:r>
              <a:rPr sz="1400" dirty="0"/>
              <a:t> </a:t>
            </a:r>
            <a:r>
              <a:rPr sz="1400" dirty="0" err="1"/>
              <a:t>пилота</a:t>
            </a:r>
            <a:r>
              <a:rPr sz="1400" dirty="0"/>
              <a:t> и </a:t>
            </a:r>
            <a:r>
              <a:rPr sz="1400" dirty="0" err="1"/>
              <a:t>видео</a:t>
            </a:r>
            <a:r>
              <a:rPr sz="1400" dirty="0"/>
              <a:t> с </a:t>
            </a:r>
            <a:r>
              <a:rPr sz="1400" dirty="0" err="1"/>
              <a:t>курсовой</a:t>
            </a:r>
            <a:r>
              <a:rPr sz="1400" dirty="0"/>
              <a:t> </a:t>
            </a:r>
            <a:r>
              <a:rPr sz="1400" dirty="0" err="1"/>
              <a:t>камеры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Задача</a:t>
            </a:r>
            <a:r>
              <a:rPr sz="1400" dirty="0"/>
              <a:t>: </a:t>
            </a:r>
            <a:r>
              <a:rPr sz="1400" dirty="0" err="1"/>
              <a:t>оценить</a:t>
            </a:r>
            <a:r>
              <a:rPr sz="1400" dirty="0"/>
              <a:t>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наземной</a:t>
            </a:r>
            <a:r>
              <a:rPr sz="1400" dirty="0"/>
              <a:t> </a:t>
            </a:r>
            <a:r>
              <a:rPr sz="1400" dirty="0" err="1"/>
              <a:t>станции</a:t>
            </a:r>
            <a:r>
              <a:rPr sz="1400" dirty="0"/>
              <a:t>,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дооснащая</a:t>
            </a:r>
            <a:r>
              <a:rPr sz="1400" dirty="0"/>
              <a:t> </a:t>
            </a:r>
            <a:r>
              <a:rPr sz="1400" dirty="0" err="1"/>
              <a:t>дрон</a:t>
            </a:r>
            <a:endParaRPr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rPr dirty="0"/>
              <a:t>[</a:t>
            </a:r>
            <a:r>
              <a:rPr dirty="0" err="1"/>
              <a:t>Визуал</a:t>
            </a:r>
            <a:r>
              <a:rPr dirty="0"/>
              <a:t>: </a:t>
            </a: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Пилот</a:t>
            </a:r>
            <a:r>
              <a:rPr dirty="0"/>
              <a:t> → БВС → ПК (DCT) → </a:t>
            </a:r>
            <a:r>
              <a:rPr dirty="0" err="1"/>
              <a:t>мониторинг</a:t>
            </a:r>
            <a:r>
              <a:rPr dirty="0"/>
              <a:t>]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6F4758-9B64-443F-A36D-47F96F8160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3E7DB3E2-72F0-41ED-8DD1-D23C5E56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7F6D37-B20C-4B15-BDCB-86F6745EE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E51BA91-0467-41AE-BB7C-DD8F40EE94CC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Системы позиционирования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E0190082-D156-45B1-8F32-F25AABF4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89A42E0-AA8B-41BD-8A1D-FC9CA5894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339187"/>
              </p:ext>
            </p:extLst>
          </p:nvPr>
        </p:nvGraphicFramePr>
        <p:xfrm>
          <a:off x="812800" y="1330036"/>
          <a:ext cx="10529455" cy="4420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3952">
                  <a:extLst>
                    <a:ext uri="{9D8B030D-6E8A-4147-A177-3AD203B41FA5}">
                      <a16:colId xmlns:a16="http://schemas.microsoft.com/office/drawing/2014/main" val="32874291"/>
                    </a:ext>
                  </a:extLst>
                </a:gridCol>
                <a:gridCol w="3304143">
                  <a:extLst>
                    <a:ext uri="{9D8B030D-6E8A-4147-A177-3AD203B41FA5}">
                      <a16:colId xmlns:a16="http://schemas.microsoft.com/office/drawing/2014/main" val="2271495452"/>
                    </a:ext>
                  </a:extLst>
                </a:gridCol>
                <a:gridCol w="4561360">
                  <a:extLst>
                    <a:ext uri="{9D8B030D-6E8A-4147-A177-3AD203B41FA5}">
                      <a16:colId xmlns:a16="http://schemas.microsoft.com/office/drawing/2014/main" val="4152024934"/>
                    </a:ext>
                  </a:extLst>
                </a:gridCol>
              </a:tblGrid>
              <a:tr h="47105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Подход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Ограничения для FPV-БВС</a:t>
                      </a: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319876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GPS/ГЛОНАСС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Глобальные координаты, готовая инфраструктура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Требуется бортовой модуль; возможны задержки, потеря сигнала и рост массы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2874564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UWB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Высокая локальная точность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Требуются маяки, калибровка площадки и отдельная инфраструктура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0718347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Motion </a:t>
                      </a:r>
                      <a:r>
                        <a:rPr lang="ru-RU" sz="1400" dirty="0" err="1">
                          <a:effectLst/>
                        </a:rPr>
                        <a:t>capture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Очень высокая точность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Высокая стоимость, лабораторный характер, ограниченная зона работы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9958216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Внешнее оптическое отслеживание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Можно не устанавливать навигацию на БВС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Нужны внешние камеры и постоянная видимость аппарата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5012342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Visual </a:t>
                      </a:r>
                      <a:r>
                        <a:rPr lang="ru-RU" sz="1400" dirty="0" err="1">
                          <a:effectLst/>
                        </a:rPr>
                        <a:t>odometry</a:t>
                      </a:r>
                      <a:r>
                        <a:rPr lang="ru-RU" sz="1400" dirty="0">
                          <a:effectLst/>
                        </a:rPr>
                        <a:t> / SLAM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Использует видеоданные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Высокая вычислительная сложность, зависимость от сцены и освещения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7425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3117273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Сбор</a:t>
            </a:r>
            <a:r>
              <a:rPr sz="1400" dirty="0"/>
              <a:t> и </a:t>
            </a:r>
            <a:r>
              <a:rPr sz="1400" dirty="0" err="1"/>
              <a:t>синхронизация</a:t>
            </a:r>
            <a:r>
              <a:rPr sz="1400" dirty="0"/>
              <a:t> RC + </a:t>
            </a:r>
            <a:r>
              <a:rPr sz="1400" dirty="0" err="1"/>
              <a:t>видео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ПК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Локализация</a:t>
            </a:r>
            <a:r>
              <a:rPr sz="1400" dirty="0"/>
              <a:t> </a:t>
            </a:r>
            <a:r>
              <a:rPr sz="1400" dirty="0" err="1"/>
              <a:t>относительно</a:t>
            </a:r>
            <a:r>
              <a:rPr sz="1400" dirty="0"/>
              <a:t> </a:t>
            </a:r>
            <a:r>
              <a:rPr sz="1400" dirty="0" err="1"/>
              <a:t>заданной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 (</a:t>
            </a:r>
            <a:r>
              <a:rPr sz="1400" dirty="0" err="1"/>
              <a:t>референс</a:t>
            </a:r>
            <a:r>
              <a:rPr sz="1400" dirty="0"/>
              <a:t> + PF)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Режимы</a:t>
            </a:r>
            <a:r>
              <a:rPr sz="1400" dirty="0"/>
              <a:t> Record (</a:t>
            </a:r>
            <a:r>
              <a:rPr sz="1400" dirty="0" err="1"/>
              <a:t>запись</a:t>
            </a:r>
            <a:r>
              <a:rPr sz="1400" dirty="0"/>
              <a:t>) и Replay (</a:t>
            </a:r>
            <a:r>
              <a:rPr sz="1400" dirty="0" err="1"/>
              <a:t>анализ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нового</a:t>
            </a:r>
            <a:r>
              <a:rPr sz="1400" dirty="0"/>
              <a:t> </a:t>
            </a:r>
            <a:r>
              <a:rPr sz="1400" dirty="0" err="1"/>
              <a:t>полёта</a:t>
            </a:r>
            <a:r>
              <a:rPr sz="1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Выход</a:t>
            </a:r>
            <a:r>
              <a:rPr sz="1400" dirty="0"/>
              <a:t>: </a:t>
            </a:r>
            <a:r>
              <a:rPr sz="1400" dirty="0" err="1"/>
              <a:t>координаты</a:t>
            </a:r>
            <a:r>
              <a:rPr sz="1400" dirty="0"/>
              <a:t> </a:t>
            </a:r>
            <a:r>
              <a:rPr sz="1400" dirty="0" err="1"/>
              <a:t>во</a:t>
            </a:r>
            <a:r>
              <a:rPr sz="1400" dirty="0"/>
              <a:t> </a:t>
            </a:r>
            <a:r>
              <a:rPr sz="1400" dirty="0" err="1"/>
              <a:t>внешнюю</a:t>
            </a:r>
            <a:r>
              <a:rPr sz="1400" dirty="0"/>
              <a:t> </a:t>
            </a:r>
            <a:r>
              <a:rPr sz="1400" dirty="0" err="1"/>
              <a:t>систему</a:t>
            </a:r>
            <a:r>
              <a:rPr sz="1400" dirty="0"/>
              <a:t> </a:t>
            </a:r>
            <a:r>
              <a:rPr sz="1400" dirty="0" err="1"/>
              <a:t>мониторинга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D197FE0-E76C-4178-9EAA-3A4AE16B5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E72C437-0A9E-40CF-B2E3-E4C89996913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Наземный комплекс </a:t>
            </a:r>
            <a:r>
              <a:rPr lang="en-US" sz="2800" b="1" dirty="0">
                <a:latin typeface="Arial"/>
              </a:rPr>
              <a:t>DCT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EB139D44-0503-48EA-A972-6F04C682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F28C02-3782-4CAE-B4D0-0F15FC560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256" y="849306"/>
            <a:ext cx="6172688" cy="5159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459018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>
                <a:solidFill>
                  <a:srgbClr val="222222"/>
                </a:solidFill>
                <a:latin typeface="Arial"/>
              </a:rPr>
              <a:t>Цель</a:t>
            </a:r>
            <a:r>
              <a:rPr sz="1400" dirty="0">
                <a:solidFill>
                  <a:srgbClr val="222222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комплекс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сбора</a:t>
            </a:r>
            <a:r>
              <a:rPr sz="1400" dirty="0">
                <a:solidFill>
                  <a:srgbClr val="222222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локализации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передачи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координат</a:t>
            </a:r>
            <a:r>
              <a:rPr sz="1400" dirty="0">
                <a:solidFill>
                  <a:srgbClr val="222222"/>
                </a:solidFill>
                <a:latin typeface="Arial"/>
              </a:rPr>
              <a:t> БВС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(1)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оборудование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сбор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данных</a:t>
            </a:r>
            <a:endParaRPr sz="1400" dirty="0">
              <a:solidFill>
                <a:srgbClr val="222222"/>
              </a:solidFill>
              <a:latin typeface="Arial"/>
            </a:endParaR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(2)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архитектура</a:t>
            </a:r>
            <a:r>
              <a:rPr sz="1400" dirty="0">
                <a:solidFill>
                  <a:srgbClr val="222222"/>
                </a:solidFill>
                <a:latin typeface="Arial"/>
              </a:rPr>
              <a:t> (3)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данные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sim/real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(4)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отслеживание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(5)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интеграция</a:t>
            </a:r>
            <a:r>
              <a:rPr sz="1400" dirty="0">
                <a:solidFill>
                  <a:srgbClr val="222222"/>
                </a:solidFill>
                <a:latin typeface="Arial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мониторингом</a:t>
            </a:r>
            <a:endParaRPr sz="1400" dirty="0">
              <a:solidFill>
                <a:srgbClr val="222222"/>
              </a:solidFill>
              <a:latin typeface="Arial"/>
            </a:endParaR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>
                <a:solidFill>
                  <a:srgbClr val="222222"/>
                </a:solidFill>
                <a:latin typeface="Arial"/>
              </a:rPr>
              <a:t>Критерий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исследования</a:t>
            </a:r>
            <a:r>
              <a:rPr sz="1400" dirty="0">
                <a:solidFill>
                  <a:srgbClr val="222222"/>
                </a:solidFill>
                <a:latin typeface="Arial"/>
              </a:rPr>
              <a:t>: p90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ошибки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&lt; 15 м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58EEBC-25C2-465C-AED0-2F68C41A2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B758B285-F9AA-476C-9458-9583ABF60B42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Цель и задачи проекта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612BC831-D913-43EF-836D-55FBB2D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AB16715-B393-41FC-936A-B4436DD3C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42502"/>
              </p:ext>
            </p:extLst>
          </p:nvPr>
        </p:nvGraphicFramePr>
        <p:xfrm>
          <a:off x="5455228" y="1265740"/>
          <a:ext cx="6310744" cy="4778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873">
                  <a:extLst>
                    <a:ext uri="{9D8B030D-6E8A-4147-A177-3AD203B41FA5}">
                      <a16:colId xmlns:a16="http://schemas.microsoft.com/office/drawing/2014/main" val="1127226779"/>
                    </a:ext>
                  </a:extLst>
                </a:gridCol>
                <a:gridCol w="4505871">
                  <a:extLst>
                    <a:ext uri="{9D8B030D-6E8A-4147-A177-3AD203B41FA5}">
                      <a16:colId xmlns:a16="http://schemas.microsoft.com/office/drawing/2014/main" val="1108805956"/>
                    </a:ext>
                  </a:extLst>
                </a:gridCol>
              </a:tblGrid>
              <a:tr h="4367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Группа требований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Требование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805078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Аппаратные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использование RC-каналов, курсовой камеры, ESP32 и ПК/ноутбука без установки навигации на БВС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9478525"/>
                  </a:ext>
                </a:extLst>
              </a:tr>
              <a:tr h="6387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Программные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запись, синхронизация, воспроизведение и анализ сессий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9515562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Алгоритмические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оценка положения по RC-каналам и видеопотоку относительно заданной трассы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011187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Экспериментальные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сравнение методов и проверка внутреннего критерия p90 &lt; 15 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123841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Интеграционные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перевод локальных координат в глобальные и передача во внешнюю систему мониторинга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9586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2"/>
            <a:ext cx="4336473" cy="1767805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Четыре</a:t>
            </a:r>
            <a:r>
              <a:rPr sz="1400" dirty="0"/>
              <a:t> </a:t>
            </a:r>
            <a:r>
              <a:rPr sz="1400" dirty="0" err="1"/>
              <a:t>блока</a:t>
            </a:r>
            <a:r>
              <a:rPr sz="1400" dirty="0"/>
              <a:t>: RC, </a:t>
            </a:r>
            <a:r>
              <a:rPr sz="1400" dirty="0" err="1"/>
              <a:t>видео</a:t>
            </a:r>
            <a:r>
              <a:rPr sz="1400" dirty="0"/>
              <a:t>, DCT, </a:t>
            </a:r>
            <a:r>
              <a:rPr sz="1400" dirty="0" err="1"/>
              <a:t>интеграция</a:t>
            </a:r>
            <a:r>
              <a:rPr sz="1400" dirty="0"/>
              <a:t> с </a:t>
            </a:r>
            <a:r>
              <a:rPr sz="1400" dirty="0" err="1"/>
              <a:t>мониторингом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Внутри</a:t>
            </a:r>
            <a:r>
              <a:rPr sz="1400" dirty="0"/>
              <a:t> DCT: </a:t>
            </a:r>
            <a:r>
              <a:rPr sz="1400" dirty="0" err="1"/>
              <a:t>запись</a:t>
            </a:r>
            <a:r>
              <a:rPr sz="1400" dirty="0"/>
              <a:t> → </a:t>
            </a:r>
            <a:r>
              <a:rPr sz="1400" dirty="0" err="1"/>
              <a:t>воспроизведение</a:t>
            </a:r>
            <a:r>
              <a:rPr sz="1400" dirty="0"/>
              <a:t> → </a:t>
            </a:r>
            <a:r>
              <a:rPr sz="1400" dirty="0" err="1"/>
              <a:t>алгоритмы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Вычисления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наземной</a:t>
            </a:r>
            <a:r>
              <a:rPr sz="1400" dirty="0"/>
              <a:t> </a:t>
            </a:r>
            <a:r>
              <a:rPr sz="1400" dirty="0" err="1"/>
              <a:t>станции</a:t>
            </a:r>
            <a:r>
              <a:rPr sz="1400" dirty="0"/>
              <a:t>, </a:t>
            </a:r>
            <a:r>
              <a:rPr sz="1400" dirty="0" err="1"/>
              <a:t>борт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NAV-</a:t>
            </a:r>
            <a:r>
              <a:rPr sz="1400" dirty="0" err="1"/>
              <a:t>модуля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1307531-B42C-4AC5-8D5A-11D9172428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9B24627-EAD4-4076-BC4A-6699D955867E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Архитектура комплекса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ACB8800-570E-4D59-9F82-508E5BEB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D7E99D-0D51-423B-B321-369016C65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6001"/>
            <a:ext cx="5304223" cy="54023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13" y="7154521"/>
            <a:ext cx="4188691" cy="211878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RC: </a:t>
            </a:r>
            <a:r>
              <a:rPr sz="1400" dirty="0" err="1"/>
              <a:t>EdgeTX</a:t>
            </a:r>
            <a:r>
              <a:rPr sz="1400" dirty="0"/>
              <a:t>/ELRS → </a:t>
            </a:r>
            <a:r>
              <a:rPr sz="1400" dirty="0" err="1"/>
              <a:t>приёмник</a:t>
            </a:r>
            <a:r>
              <a:rPr sz="1400" dirty="0"/>
              <a:t> → ESP32 → COM → DCT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Видео</a:t>
            </a:r>
            <a:r>
              <a:rPr sz="1400" dirty="0"/>
              <a:t>: FPV-</a:t>
            </a:r>
            <a:r>
              <a:rPr sz="1400" dirty="0" err="1"/>
              <a:t>камера</a:t>
            </a:r>
            <a:r>
              <a:rPr sz="1400" dirty="0"/>
              <a:t> → </a:t>
            </a:r>
            <a:r>
              <a:rPr sz="1400" dirty="0" err="1"/>
              <a:t>HDZero</a:t>
            </a:r>
            <a:r>
              <a:rPr sz="1400" dirty="0"/>
              <a:t> → </a:t>
            </a:r>
            <a:r>
              <a:rPr sz="1400" dirty="0" err="1"/>
              <a:t>захват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ПК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Все</a:t>
            </a:r>
            <a:r>
              <a:rPr sz="1400" dirty="0"/>
              <a:t> </a:t>
            </a:r>
            <a:r>
              <a:rPr sz="1400" dirty="0" err="1"/>
              <a:t>потоки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единой</a:t>
            </a:r>
            <a:r>
              <a:rPr sz="1400" dirty="0"/>
              <a:t> </a:t>
            </a:r>
            <a:r>
              <a:rPr sz="1400" dirty="0" err="1"/>
              <a:t>временной</a:t>
            </a:r>
            <a:r>
              <a:rPr sz="1400" dirty="0"/>
              <a:t> </a:t>
            </a:r>
            <a:r>
              <a:rPr sz="1400" dirty="0" err="1"/>
              <a:t>шкале</a:t>
            </a:r>
            <a:r>
              <a:rPr sz="1400" dirty="0"/>
              <a:t> (wall-clock + </a:t>
            </a:r>
            <a:r>
              <a:rPr sz="1400" dirty="0" err="1"/>
              <a:t>кадры</a:t>
            </a:r>
            <a:r>
              <a:rPr sz="1400" dirty="0"/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481B98-86C8-466A-B161-855F2A1AE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06292B90-4D65-4D0A-8652-142DCCD6DA66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Аппаратная часть и синхронизация 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57446D61-05C0-4802-AE08-EF3E8669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950CE30-DFEB-4702-A616-3CF2CFC777A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55" y="4620760"/>
            <a:ext cx="5701583" cy="127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190A1FE-07E7-4A5C-A969-FBCB9DA8288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964" y="4620760"/>
            <a:ext cx="5585263" cy="127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2577BC7-5649-4958-98BF-F84C9F52F7B6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3" y="2237240"/>
            <a:ext cx="3891944" cy="19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EC5EE90-8396-4F8F-880B-09374B22A55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7165" y="1974154"/>
            <a:ext cx="3209260" cy="241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8A9889-541A-4902-AF3A-438FC10E173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61" y="1141060"/>
            <a:ext cx="3349830" cy="1675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28" y="6932850"/>
            <a:ext cx="3819236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Трасса</a:t>
            </a:r>
            <a:r>
              <a:rPr sz="1400" dirty="0"/>
              <a:t>: </a:t>
            </a:r>
            <a:r>
              <a:rPr sz="1400" dirty="0" err="1"/>
              <a:t>ворота</a:t>
            </a:r>
            <a:r>
              <a:rPr sz="1400" dirty="0"/>
              <a:t> + </a:t>
            </a:r>
            <a:r>
              <a:rPr sz="1400" dirty="0" err="1"/>
              <a:t>референсная</a:t>
            </a:r>
            <a:r>
              <a:rPr sz="1400" dirty="0"/>
              <a:t> </a:t>
            </a:r>
            <a:r>
              <a:rPr sz="1400" dirty="0" err="1"/>
              <a:t>траектория</a:t>
            </a:r>
            <a:r>
              <a:rPr sz="1400" dirty="0"/>
              <a:t> (</a:t>
            </a:r>
            <a:r>
              <a:rPr sz="1400" dirty="0" err="1"/>
              <a:t>файл</a:t>
            </a:r>
            <a:r>
              <a:rPr sz="1400" dirty="0"/>
              <a:t> .</a:t>
            </a:r>
            <a:r>
              <a:rPr sz="1400" dirty="0" err="1"/>
              <a:t>npz</a:t>
            </a:r>
            <a:r>
              <a:rPr sz="1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Состояние</a:t>
            </a:r>
            <a:r>
              <a:rPr sz="1400" dirty="0"/>
              <a:t> </a:t>
            </a:r>
            <a:r>
              <a:rPr sz="1400" dirty="0" err="1"/>
              <a:t>фильтра</a:t>
            </a:r>
            <a:r>
              <a:rPr sz="1400" dirty="0"/>
              <a:t>: (s, v) —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вдоль</a:t>
            </a:r>
            <a:r>
              <a:rPr sz="1400" dirty="0"/>
              <a:t> </a:t>
            </a:r>
            <a:r>
              <a:rPr sz="1400" dirty="0" err="1"/>
              <a:t>дуги</a:t>
            </a:r>
            <a:r>
              <a:rPr sz="1400" dirty="0"/>
              <a:t> (м) и </a:t>
            </a:r>
            <a:r>
              <a:rPr sz="1400" dirty="0" err="1"/>
              <a:t>скорость</a:t>
            </a:r>
            <a:r>
              <a:rPr sz="1400" dirty="0"/>
              <a:t> (м/с)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RC-</a:t>
            </a:r>
            <a:r>
              <a:rPr sz="1400" dirty="0" err="1"/>
              <a:t>признаки</a:t>
            </a:r>
            <a:r>
              <a:rPr sz="1400" dirty="0"/>
              <a:t> </a:t>
            </a:r>
            <a:r>
              <a:rPr sz="1400" dirty="0" err="1"/>
              <a:t>сопоставляются</a:t>
            </a:r>
            <a:r>
              <a:rPr sz="1400" dirty="0"/>
              <a:t> с </a:t>
            </a:r>
            <a:r>
              <a:rPr sz="1400" dirty="0" err="1"/>
              <a:t>узлами</a:t>
            </a:r>
            <a:r>
              <a:rPr sz="1400" dirty="0"/>
              <a:t> </a:t>
            </a:r>
            <a:r>
              <a:rPr sz="1400" dirty="0" err="1"/>
              <a:t>референса</a:t>
            </a:r>
            <a:r>
              <a:rPr sz="1400" dirty="0"/>
              <a:t> (</a:t>
            </a:r>
            <a:r>
              <a:rPr sz="1400" dirty="0" err="1"/>
              <a:t>режим</a:t>
            </a:r>
            <a:r>
              <a:rPr sz="1400" dirty="0"/>
              <a:t> </a:t>
            </a:r>
            <a:r>
              <a:rPr sz="1400" dirty="0" err="1"/>
              <a:t>RC+Rate</a:t>
            </a:r>
            <a:r>
              <a:rPr sz="1400" dirty="0"/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F5CBC0-FFC7-4B5F-A1EA-7460CBE4C2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A05A304B-00D3-4178-9058-5712A8530745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Схема трассы и сопоставление с референсом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DC19531A-3AEE-464C-B0F5-B3B12DF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F19169E-9FCC-40FD-91ED-6741F930ED0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637" y="1159240"/>
            <a:ext cx="5477890" cy="528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8B41884-6E3E-403C-9FFB-0A619EDD7435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55"/>
          <a:stretch/>
        </p:blipFill>
        <p:spPr bwMode="auto">
          <a:xfrm>
            <a:off x="7431172" y="1083121"/>
            <a:ext cx="3344864" cy="2504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D06985-E51F-47B1-ADB0-7123CCDC26CA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5"/>
          <a:stretch/>
        </p:blipFill>
        <p:spPr bwMode="auto">
          <a:xfrm>
            <a:off x="7431172" y="3716784"/>
            <a:ext cx="3344864" cy="2504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902364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Метрика</a:t>
            </a:r>
            <a:r>
              <a:rPr sz="1400" dirty="0"/>
              <a:t>: p90_err_m (90-й </a:t>
            </a:r>
            <a:r>
              <a:rPr sz="1400" dirty="0" err="1"/>
              <a:t>перцентиль</a:t>
            </a:r>
            <a:r>
              <a:rPr sz="1400" dirty="0"/>
              <a:t> </a:t>
            </a:r>
            <a:r>
              <a:rPr sz="1400" dirty="0" err="1"/>
              <a:t>ошибки</a:t>
            </a:r>
            <a:r>
              <a:rPr sz="1400" dirty="0"/>
              <a:t>, м)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Критерий</a:t>
            </a:r>
            <a:r>
              <a:rPr sz="1400" dirty="0"/>
              <a:t>: p90 &lt; 15 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Блоки</a:t>
            </a:r>
            <a:r>
              <a:rPr sz="1400" dirty="0"/>
              <a:t>: </a:t>
            </a:r>
            <a:r>
              <a:rPr sz="1400" dirty="0" err="1"/>
              <a:t>метод</a:t>
            </a:r>
            <a:r>
              <a:rPr sz="1400" dirty="0"/>
              <a:t> (1–4) → </a:t>
            </a:r>
            <a:r>
              <a:rPr sz="1400" dirty="0" err="1"/>
              <a:t>устойчивость</a:t>
            </a:r>
            <a:r>
              <a:rPr sz="1400" dirty="0"/>
              <a:t> (5–9) → real (10) → </a:t>
            </a:r>
            <a:r>
              <a:rPr sz="1400" dirty="0" err="1"/>
              <a:t>камера</a:t>
            </a:r>
            <a:r>
              <a:rPr sz="1400" dirty="0"/>
              <a:t> (11–12)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rPr dirty="0"/>
              <a:t>[</a:t>
            </a:r>
            <a:r>
              <a:rPr dirty="0" err="1"/>
              <a:t>Визуал</a:t>
            </a:r>
            <a:r>
              <a:rPr dirty="0"/>
              <a:t>: </a:t>
            </a:r>
            <a:r>
              <a:rPr dirty="0" err="1"/>
              <a:t>Табл</a:t>
            </a:r>
            <a:r>
              <a:rPr dirty="0"/>
              <a:t>. 13 — </a:t>
            </a:r>
            <a:r>
              <a:rPr dirty="0" err="1"/>
              <a:t>воронка</a:t>
            </a:r>
            <a:r>
              <a:rPr dirty="0"/>
              <a:t> 4 </a:t>
            </a:r>
            <a:r>
              <a:rPr dirty="0" err="1"/>
              <a:t>блоков</a:t>
            </a:r>
            <a:r>
              <a:rPr dirty="0"/>
              <a:t>]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F76965-3101-46CB-8244-7061BAD10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4" name="Заголовок 8">
            <a:extLst>
              <a:ext uri="{FF2B5EF4-FFF2-40B4-BE49-F238E27FC236}">
                <a16:creationId xmlns:a16="http://schemas.microsoft.com/office/drawing/2014/main" id="{AFD7EDED-5850-4A8A-9B4C-F5D9F58976B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Методика экспериментов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7A8C8432-24AF-451B-8C16-19B90F15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211BA12-2EBD-47E0-B815-B9E706D3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55323"/>
              </p:ext>
            </p:extLst>
          </p:nvPr>
        </p:nvGraphicFramePr>
        <p:xfrm>
          <a:off x="5502564" y="1284907"/>
          <a:ext cx="6216072" cy="42913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6711">
                  <a:extLst>
                    <a:ext uri="{9D8B030D-6E8A-4147-A177-3AD203B41FA5}">
                      <a16:colId xmlns:a16="http://schemas.microsoft.com/office/drawing/2014/main" val="680909778"/>
                    </a:ext>
                  </a:extLst>
                </a:gridCol>
                <a:gridCol w="4239361">
                  <a:extLst>
                    <a:ext uri="{9D8B030D-6E8A-4147-A177-3AD203B41FA5}">
                      <a16:colId xmlns:a16="http://schemas.microsoft.com/office/drawing/2014/main" val="2521306476"/>
                    </a:ext>
                  </a:extLst>
                </a:gridCol>
              </a:tblGrid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Блок экспериментов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60067"/>
                  </a:ext>
                </a:extLst>
              </a:tr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Эксперименты 1 – 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выбор метода, признаков, весов каналов и </a:t>
                      </a:r>
                      <a:r>
                        <a:rPr lang="ru-RU" sz="1400" dirty="0" err="1">
                          <a:effectLst/>
                        </a:rPr>
                        <a:t>гиперпараметров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9891416"/>
                  </a:ext>
                </a:extLst>
              </a:tr>
              <a:tr h="131164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Эксперименты 5 – 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устойчивость, качество референса, переносимость между дронами, пилотами и трассами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6822351"/>
                  </a:ext>
                </a:extLst>
              </a:tr>
              <a:tr h="4048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 10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проверка RC/PF-контура на реальном треке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0468680"/>
                  </a:ext>
                </a:extLst>
              </a:tr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Эксперименты 11 – 12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оценка камерной фьюжн и интеграция YOLO/</a:t>
                      </a:r>
                      <a:r>
                        <a:rPr lang="ru-RU" sz="1400" dirty="0" err="1">
                          <a:effectLst/>
                        </a:rPr>
                        <a:t>PnP</a:t>
                      </a:r>
                      <a:r>
                        <a:rPr lang="ru-RU" sz="1400" dirty="0">
                          <a:effectLst/>
                        </a:rPr>
                        <a:t> в </a:t>
                      </a:r>
                      <a:r>
                        <a:rPr lang="ru-RU" sz="1400" dirty="0" err="1">
                          <a:effectLst/>
                        </a:rPr>
                        <a:t>Replay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0827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1: Particle Filter </a:t>
            </a:r>
            <a:r>
              <a:rPr sz="1400" dirty="0" err="1"/>
              <a:t>лучше</a:t>
            </a:r>
            <a:r>
              <a:rPr sz="1400" dirty="0"/>
              <a:t> HMM, DTW, NN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2–3: </a:t>
            </a:r>
            <a:r>
              <a:rPr sz="1400" dirty="0" err="1"/>
              <a:t>режим</a:t>
            </a:r>
            <a:r>
              <a:rPr sz="1400" dirty="0"/>
              <a:t> </a:t>
            </a:r>
            <a:r>
              <a:rPr sz="1400" dirty="0" err="1"/>
              <a:t>RC+Rate</a:t>
            </a:r>
            <a:r>
              <a:rPr sz="1400" dirty="0"/>
              <a:t>, </a:t>
            </a:r>
            <a:r>
              <a:rPr sz="1400" dirty="0" err="1"/>
              <a:t>веса</a:t>
            </a:r>
            <a:r>
              <a:rPr sz="1400" dirty="0"/>
              <a:t> </a:t>
            </a:r>
            <a:r>
              <a:rPr sz="1400" dirty="0" err="1"/>
              <a:t>каналов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4: </a:t>
            </a:r>
            <a:r>
              <a:rPr sz="1400" dirty="0" err="1"/>
              <a:t>obs_sigma</a:t>
            </a:r>
            <a:r>
              <a:rPr sz="1400" dirty="0"/>
              <a:t>=2, </a:t>
            </a:r>
            <a:r>
              <a:rPr sz="1400" dirty="0" err="1"/>
              <a:t>pnv</a:t>
            </a:r>
            <a:r>
              <a:rPr sz="1400" dirty="0"/>
              <a:t>=8 → cross-drone p90 = 7,8 м</a:t>
            </a:r>
          </a:p>
        </p:txBody>
      </p:sp>
      <p:pic>
        <p:nvPicPr>
          <p:cNvPr id="11" name="Picture 10" descr="metho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41" y="2698424"/>
            <a:ext cx="5377258" cy="36579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C0191B8-CA4F-4F93-978C-DFA37601C7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F1554D1D-4157-4B3C-83F1-980751A9719F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Выбор и настройка метода локализации</a:t>
            </a:r>
          </a:p>
        </p:txBody>
      </p:sp>
      <p:sp>
        <p:nvSpPr>
          <p:cNvPr id="16" name="Номер слайда 3">
            <a:extLst>
              <a:ext uri="{FF2B5EF4-FFF2-40B4-BE49-F238E27FC236}">
                <a16:creationId xmlns:a16="http://schemas.microsoft.com/office/drawing/2014/main" id="{4D23A31B-95ED-4651-93E1-91817775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2567837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Частицы</a:t>
            </a:r>
            <a:r>
              <a:rPr sz="1400" dirty="0"/>
              <a:t> (s, v): predict → update </a:t>
            </a:r>
            <a:r>
              <a:rPr sz="1400" dirty="0" err="1"/>
              <a:t>по</a:t>
            </a:r>
            <a:r>
              <a:rPr sz="1400" dirty="0"/>
              <a:t> RC → resample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Циклический</a:t>
            </a:r>
            <a:r>
              <a:rPr sz="1400" dirty="0"/>
              <a:t> </a:t>
            </a:r>
            <a:r>
              <a:rPr sz="1400" dirty="0" err="1"/>
              <a:t>круг</a:t>
            </a:r>
            <a:r>
              <a:rPr sz="1400" dirty="0"/>
              <a:t>: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модулю</a:t>
            </a:r>
            <a:r>
              <a:rPr sz="1400" dirty="0"/>
              <a:t> </a:t>
            </a:r>
            <a:r>
              <a:rPr sz="1400" dirty="0" err="1"/>
              <a:t>длины</a:t>
            </a:r>
            <a:r>
              <a:rPr sz="1400" dirty="0"/>
              <a:t> </a:t>
            </a:r>
            <a:r>
              <a:rPr sz="1400" dirty="0" err="1"/>
              <a:t>трассы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Поверх</a:t>
            </a:r>
            <a:r>
              <a:rPr sz="1400" dirty="0"/>
              <a:t> PF — </a:t>
            </a:r>
            <a:r>
              <a:rPr sz="1400" dirty="0" err="1"/>
              <a:t>сглаживание</a:t>
            </a:r>
            <a:r>
              <a:rPr sz="1400" dirty="0"/>
              <a:t> KFLayer2 (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замена</a:t>
            </a:r>
            <a:r>
              <a:rPr sz="1400" dirty="0"/>
              <a:t> PF)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891BF8-4051-4B7E-8E89-A8782792E3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57BF9BA5-3269-46D8-A809-17AA9D100A0F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en-US" sz="2800" b="1" dirty="0">
                <a:latin typeface="Arial"/>
              </a:rPr>
              <a:t>Particle Filter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A835E29E-7CEE-4D6E-A566-A2C21E29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3E40BB-4FE5-4624-99BA-A8409127DF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1855" y="243251"/>
            <a:ext cx="4481945" cy="630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A10A882-5624-489F-8E02-332C96235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1" y="1441305"/>
            <a:ext cx="2131425" cy="39753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5648035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Важнее</a:t>
            </a:r>
            <a:r>
              <a:rPr sz="1400" dirty="0"/>
              <a:t> </a:t>
            </a:r>
            <a:r>
              <a:rPr sz="1400" dirty="0" err="1"/>
              <a:t>качество</a:t>
            </a:r>
            <a:r>
              <a:rPr sz="1400" dirty="0"/>
              <a:t> </a:t>
            </a:r>
            <a:r>
              <a:rPr sz="1400" dirty="0" err="1"/>
              <a:t>референса</a:t>
            </a:r>
            <a:r>
              <a:rPr sz="1400" dirty="0"/>
              <a:t>, </a:t>
            </a:r>
            <a:r>
              <a:rPr sz="1400" dirty="0" err="1"/>
              <a:t>чем</a:t>
            </a:r>
            <a:r>
              <a:rPr sz="1400" dirty="0"/>
              <a:t> </a:t>
            </a:r>
            <a:r>
              <a:rPr sz="1400" dirty="0" err="1"/>
              <a:t>совпадение</a:t>
            </a:r>
            <a:r>
              <a:rPr sz="1400" dirty="0"/>
              <a:t> </a:t>
            </a:r>
            <a:r>
              <a:rPr sz="1400" dirty="0" err="1"/>
              <a:t>дрона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Кросс-пилот</a:t>
            </a:r>
            <a:r>
              <a:rPr sz="1400" dirty="0"/>
              <a:t>: </a:t>
            </a:r>
            <a:r>
              <a:rPr sz="1400" dirty="0" err="1"/>
              <a:t>переносимость</a:t>
            </a:r>
            <a:r>
              <a:rPr sz="1400" dirty="0"/>
              <a:t> с </a:t>
            </a:r>
            <a:r>
              <a:rPr sz="1400" dirty="0" err="1"/>
              <a:t>ограничениями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Новые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: mini-sweep; </a:t>
            </a:r>
            <a:r>
              <a:rPr sz="1400" dirty="0" err="1"/>
              <a:t>дрейф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времени</a:t>
            </a:r>
            <a:r>
              <a:rPr sz="1400" dirty="0"/>
              <a:t>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выявлен</a:t>
            </a:r>
            <a:endParaRPr sz="1400" dirty="0"/>
          </a:p>
        </p:txBody>
      </p:sp>
      <p:pic>
        <p:nvPicPr>
          <p:cNvPr id="11" name="Picture 10" descr="same_vs_cross_drone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436" y="1500000"/>
            <a:ext cx="5183563" cy="452383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5A7767-AB81-4BD3-A2F0-257533D042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A4283CA-7E36-480B-9B0A-298FAA5C9F1E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Устойчивость и переносимость референса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8E9A2489-8044-416E-9C28-B1FAEC34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237344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YOLO (</a:t>
            </a:r>
            <a:r>
              <a:rPr sz="1400" dirty="0" err="1"/>
              <a:t>ворота</a:t>
            </a:r>
            <a:r>
              <a:rPr sz="1400" dirty="0"/>
              <a:t>) → PnP → </a:t>
            </a:r>
            <a:r>
              <a:rPr sz="1400" dirty="0" err="1"/>
              <a:t>CameraObservation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inject_position_observation</a:t>
            </a:r>
            <a:r>
              <a:rPr sz="1400" dirty="0"/>
              <a:t> — </a:t>
            </a:r>
            <a:r>
              <a:rPr sz="1400" dirty="0" err="1"/>
              <a:t>байесовское</a:t>
            </a:r>
            <a:r>
              <a:rPr sz="1400" dirty="0"/>
              <a:t> </a:t>
            </a:r>
            <a:r>
              <a:rPr sz="1400" dirty="0" err="1"/>
              <a:t>обновление</a:t>
            </a:r>
            <a:r>
              <a:rPr sz="1400" dirty="0"/>
              <a:t> </a:t>
            </a:r>
            <a:r>
              <a:rPr sz="1400" dirty="0" err="1"/>
              <a:t>весов</a:t>
            </a:r>
            <a:r>
              <a:rPr sz="1400" dirty="0"/>
              <a:t> PF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Основной</a:t>
            </a:r>
            <a:r>
              <a:rPr sz="1400" dirty="0"/>
              <a:t> </a:t>
            </a:r>
            <a:r>
              <a:rPr sz="1400" dirty="0" err="1"/>
              <a:t>контур</a:t>
            </a:r>
            <a:r>
              <a:rPr sz="1400" dirty="0"/>
              <a:t> </a:t>
            </a:r>
            <a:r>
              <a:rPr sz="1400" dirty="0" err="1"/>
              <a:t>работает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камеры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73C3B5-C5D8-45D6-82D7-B83CE86D0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45FF3A1C-7570-4305-869A-09A35F55A626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Камера в контуре локализации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F84DC45B-F91A-44DA-9F6A-31ACB7FF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AEC3F7-0A1D-406B-8DC1-42E85055805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45" y="459567"/>
            <a:ext cx="3812595" cy="613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607F37-3B64-40BB-882E-D42A02BEC98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66" y="3429000"/>
            <a:ext cx="4441334" cy="316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10: RC/PF </a:t>
            </a:r>
            <a:r>
              <a:rPr sz="1400" dirty="0" err="1"/>
              <a:t>вне</a:t>
            </a:r>
            <a:r>
              <a:rPr sz="1400" dirty="0"/>
              <a:t> </a:t>
            </a:r>
            <a:r>
              <a:rPr sz="1400" dirty="0" err="1"/>
              <a:t>симулятора</a:t>
            </a:r>
            <a:r>
              <a:rPr sz="1400" dirty="0"/>
              <a:t> (real track)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11: </a:t>
            </a:r>
            <a:r>
              <a:rPr sz="1400" dirty="0" err="1"/>
              <a:t>моделирование</a:t>
            </a:r>
            <a:r>
              <a:rPr sz="1400" dirty="0"/>
              <a:t> </a:t>
            </a:r>
            <a:r>
              <a:rPr sz="1400" dirty="0" err="1"/>
              <a:t>слияния</a:t>
            </a:r>
            <a:r>
              <a:rPr sz="1400" dirty="0"/>
              <a:t> — </a:t>
            </a:r>
            <a:r>
              <a:rPr sz="1400" dirty="0" err="1"/>
              <a:t>снижение</a:t>
            </a:r>
            <a:r>
              <a:rPr sz="1400" dirty="0"/>
              <a:t> p90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12: YOLO/PnP + </a:t>
            </a:r>
            <a:r>
              <a:rPr sz="1400" dirty="0" err="1"/>
              <a:t>CamKF</a:t>
            </a:r>
            <a:r>
              <a:rPr sz="1400" dirty="0"/>
              <a:t>; </a:t>
            </a:r>
            <a:r>
              <a:rPr sz="1400" dirty="0" err="1"/>
              <a:t>ограничение</a:t>
            </a:r>
            <a:r>
              <a:rPr sz="1400" dirty="0"/>
              <a:t>: offline</a:t>
            </a:r>
          </a:p>
        </p:txBody>
      </p:sp>
      <p:pic>
        <p:nvPicPr>
          <p:cNvPr id="11" name="Picture 10" descr="varia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91" y="1393251"/>
            <a:ext cx="6208800" cy="45238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AC402D-C217-42EE-97B5-509BF0A26A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42DE03A8-7AD2-48F5-A916-2D5B08F190B3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Реальный трек и подключение камеры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3A03FAB9-F07B-4970-A648-8F1A4BCE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348181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Модули</a:t>
            </a:r>
            <a:r>
              <a:rPr sz="1400" dirty="0"/>
              <a:t>: session, replay, profiles, localization, camera, </a:t>
            </a:r>
            <a:r>
              <a:rPr sz="1400" dirty="0" err="1"/>
              <a:t>MAVLink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Сессия</a:t>
            </a:r>
            <a:r>
              <a:rPr sz="1400" dirty="0"/>
              <a:t> — </a:t>
            </a:r>
            <a:r>
              <a:rPr sz="1400" dirty="0" err="1"/>
              <a:t>самодостаточная</a:t>
            </a:r>
            <a:r>
              <a:rPr sz="1400" dirty="0"/>
              <a:t> </a:t>
            </a:r>
            <a:r>
              <a:rPr sz="1400" dirty="0" err="1"/>
              <a:t>папка</a:t>
            </a:r>
            <a:r>
              <a:rPr sz="1400" dirty="0"/>
              <a:t> (RC, </a:t>
            </a:r>
            <a:r>
              <a:rPr sz="1400" dirty="0" err="1"/>
              <a:t>видео</a:t>
            </a:r>
            <a:r>
              <a:rPr sz="1400" dirty="0"/>
              <a:t>, meta, observations)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Сбор</a:t>
            </a:r>
            <a:r>
              <a:rPr sz="1400" dirty="0"/>
              <a:t> </a:t>
            </a:r>
            <a:r>
              <a:rPr sz="1400" dirty="0" err="1"/>
              <a:t>данных</a:t>
            </a:r>
            <a:r>
              <a:rPr sz="1400" dirty="0"/>
              <a:t> </a:t>
            </a:r>
            <a:r>
              <a:rPr sz="1400" dirty="0" err="1"/>
              <a:t>отделён</a:t>
            </a:r>
            <a:r>
              <a:rPr sz="1400" dirty="0"/>
              <a:t> </a:t>
            </a:r>
            <a:r>
              <a:rPr sz="1400" dirty="0" err="1"/>
              <a:t>от</a:t>
            </a:r>
            <a:r>
              <a:rPr sz="1400" dirty="0"/>
              <a:t> </a:t>
            </a:r>
            <a:r>
              <a:rPr sz="1400" dirty="0" err="1"/>
              <a:t>алгоритмических</a:t>
            </a:r>
            <a:r>
              <a:rPr sz="1400" dirty="0"/>
              <a:t> </a:t>
            </a:r>
            <a:r>
              <a:rPr sz="1400" dirty="0" err="1"/>
              <a:t>экспериментов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A04B07-FB0C-4CA4-90CA-791483A7C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A54DC37A-2524-49C6-9C3B-141956F479F8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Структура программного комплекса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2F5FE54F-28F1-4154-8163-3235BBE3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EB34D7B-B594-4752-8FEF-FE1CFA1F21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767" y="705927"/>
            <a:ext cx="5082752" cy="565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p90 &lt; 15 м — </a:t>
            </a:r>
            <a:r>
              <a:rPr sz="1400" dirty="0" err="1"/>
              <a:t>выполнен</a:t>
            </a:r>
            <a:r>
              <a:rPr sz="1400" dirty="0"/>
              <a:t> в </a:t>
            </a:r>
            <a:r>
              <a:rPr sz="1400" dirty="0" err="1"/>
              <a:t>ключевых</a:t>
            </a:r>
            <a:r>
              <a:rPr sz="1400" dirty="0"/>
              <a:t> </a:t>
            </a:r>
            <a:r>
              <a:rPr sz="1400" dirty="0" err="1"/>
              <a:t>сценариях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База</a:t>
            </a:r>
            <a:r>
              <a:rPr sz="1400" dirty="0"/>
              <a:t>: </a:t>
            </a:r>
            <a:r>
              <a:rPr sz="1400" dirty="0" err="1"/>
              <a:t>RC+Rate</a:t>
            </a:r>
            <a:r>
              <a:rPr sz="1400" dirty="0"/>
              <a:t>, PF, </a:t>
            </a:r>
            <a:r>
              <a:rPr sz="1400" dirty="0" err="1"/>
              <a:t>pnv</a:t>
            </a:r>
            <a:r>
              <a:rPr sz="1400" dirty="0"/>
              <a:t>=8, </a:t>
            </a:r>
            <a:r>
              <a:rPr sz="1400" dirty="0" err="1"/>
              <a:t>снижение</a:t>
            </a:r>
            <a:r>
              <a:rPr sz="1400" dirty="0"/>
              <a:t> throttle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Камера</a:t>
            </a:r>
            <a:r>
              <a:rPr sz="1400" dirty="0"/>
              <a:t> — </a:t>
            </a:r>
            <a:r>
              <a:rPr sz="1400" dirty="0" err="1"/>
              <a:t>усиление</a:t>
            </a:r>
            <a:r>
              <a:rPr sz="1400" dirty="0"/>
              <a:t>; </a:t>
            </a:r>
            <a:r>
              <a:rPr sz="1400" dirty="0" err="1"/>
              <a:t>нужны</a:t>
            </a:r>
            <a:r>
              <a:rPr sz="1400" dirty="0"/>
              <a:t> real-time и </a:t>
            </a:r>
            <a:r>
              <a:rPr sz="1400" dirty="0" err="1"/>
              <a:t>больший</a:t>
            </a:r>
            <a:r>
              <a:rPr sz="1400" dirty="0"/>
              <a:t> </a:t>
            </a:r>
            <a:r>
              <a:rPr sz="1400" dirty="0" err="1"/>
              <a:t>датасет</a:t>
            </a:r>
            <a:endParaRPr sz="1400" dirty="0"/>
          </a:p>
        </p:txBody>
      </p:sp>
      <p:pic>
        <p:nvPicPr>
          <p:cNvPr id="11" name="Picture 10" descr="optim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500000"/>
            <a:ext cx="4380000" cy="38225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748314-58D0-4EFF-AC63-F8D494662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C3D9CE91-A6B7-4C8A-A704-7FFD5D03E101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Устойчивость и переносимость референса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2A279CA3-8D7A-4478-9D7F-F41CDCA8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54" y="7052922"/>
            <a:ext cx="2969491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Record: </a:t>
            </a:r>
            <a:r>
              <a:rPr sz="1400" dirty="0" err="1"/>
              <a:t>пилот</a:t>
            </a:r>
            <a:r>
              <a:rPr sz="1400" dirty="0"/>
              <a:t>/</a:t>
            </a:r>
            <a:r>
              <a:rPr sz="1400" dirty="0" err="1"/>
              <a:t>дрон</a:t>
            </a:r>
            <a:r>
              <a:rPr sz="1400" dirty="0"/>
              <a:t>/</a:t>
            </a:r>
            <a:r>
              <a:rPr sz="1400" dirty="0" err="1"/>
              <a:t>трасса</a:t>
            </a:r>
            <a:r>
              <a:rPr sz="1400" dirty="0"/>
              <a:t>, HUD, </a:t>
            </a:r>
            <a:r>
              <a:rPr sz="1400" dirty="0" err="1"/>
              <a:t>карта</a:t>
            </a:r>
            <a:r>
              <a:rPr sz="1400" dirty="0"/>
              <a:t>, </a:t>
            </a:r>
            <a:r>
              <a:rPr sz="1400" dirty="0" err="1"/>
              <a:t>видео</a:t>
            </a:r>
            <a:r>
              <a:rPr sz="1400" dirty="0"/>
              <a:t>, </a:t>
            </a:r>
            <a:r>
              <a:rPr sz="1400" dirty="0" err="1"/>
              <a:t>запись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Replay: </a:t>
            </a:r>
            <a:r>
              <a:rPr sz="1400" dirty="0" err="1"/>
              <a:t>повторный</a:t>
            </a:r>
            <a:r>
              <a:rPr sz="1400" dirty="0"/>
              <a:t> </a:t>
            </a:r>
            <a:r>
              <a:rPr sz="1400" dirty="0" err="1"/>
              <a:t>анализ</a:t>
            </a:r>
            <a:r>
              <a:rPr sz="1400" dirty="0"/>
              <a:t> и </a:t>
            </a:r>
            <a:r>
              <a:rPr sz="1400" dirty="0" err="1"/>
              <a:t>отладка</a:t>
            </a:r>
            <a:r>
              <a:rPr sz="1400" dirty="0"/>
              <a:t> </a:t>
            </a:r>
            <a:r>
              <a:rPr sz="1400" dirty="0" err="1"/>
              <a:t>локализации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Эксперименты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повторного</a:t>
            </a:r>
            <a:r>
              <a:rPr sz="1400" dirty="0"/>
              <a:t> </a:t>
            </a:r>
            <a:r>
              <a:rPr sz="1400" dirty="0" err="1"/>
              <a:t>полёта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9BE318-99D8-47EF-AF32-7D0E886DC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5837E172-DDF0-452C-B944-4826C8E86B94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Интерфейс пользователя </a:t>
            </a:r>
            <a:r>
              <a:rPr lang="en-US" sz="2800" b="1" dirty="0">
                <a:latin typeface="Arial"/>
              </a:rPr>
              <a:t>DCT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A11525FB-00E7-4963-91AC-E2CF32A4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BFF13B6-B5EE-4796-91E5-B3DA005127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41" y="1782589"/>
            <a:ext cx="5041900" cy="379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90E2C3E-8FEC-428A-8BC5-41872EC2499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772" y="1779329"/>
            <a:ext cx="5033577" cy="37948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57FBFE-DA28-49E9-80C7-8F0B7214DDA8}"/>
              </a:ext>
            </a:extLst>
          </p:cNvPr>
          <p:cNvSpPr txBox="1"/>
          <p:nvPr/>
        </p:nvSpPr>
        <p:spPr>
          <a:xfrm>
            <a:off x="2906290" y="1409997"/>
            <a:ext cx="84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Record</a:t>
            </a:r>
            <a:endParaRPr lang="ru-RU" b="1" dirty="0"/>
          </a:p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2CCCC-D162-4F32-AE50-05970B934D3F}"/>
              </a:ext>
            </a:extLst>
          </p:cNvPr>
          <p:cNvSpPr txBox="1"/>
          <p:nvPr/>
        </p:nvSpPr>
        <p:spPr>
          <a:xfrm>
            <a:off x="8531560" y="1366835"/>
            <a:ext cx="9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Replay</a:t>
            </a:r>
            <a:endParaRPr lang="ru-RU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BDFCB4E-0318-4CA5-9329-DA97E36455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20C026DB-8165-4796-84DC-BC4D711FE79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Интеграция с «Небосвод»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C729AAA5-0950-4763-9137-B9A75AB0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1B9F987-12BB-4BFC-8252-421FC04A95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587" y="953991"/>
            <a:ext cx="4918308" cy="487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D9FEDC2-5D42-4038-8D5D-39CB4781E8A2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63" y="1131693"/>
            <a:ext cx="4575151" cy="45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748314-58D0-4EFF-AC63-F8D494662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C3D9CE91-A6B7-4C8A-A704-7FFD5D03E101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Система в сборе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2A279CA3-8D7A-4478-9D7F-F41CDCA8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8E4B26-4B93-48B1-A15B-1B99765605D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563" y="753866"/>
            <a:ext cx="8078873" cy="535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58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2794000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Создан</a:t>
            </a:r>
            <a:r>
              <a:rPr sz="1400" dirty="0"/>
              <a:t> DCT: </a:t>
            </a:r>
            <a:r>
              <a:rPr sz="1400" dirty="0" err="1"/>
              <a:t>сбор</a:t>
            </a:r>
            <a:r>
              <a:rPr sz="1400" dirty="0"/>
              <a:t>, </a:t>
            </a:r>
            <a:r>
              <a:rPr sz="1400" dirty="0" err="1"/>
              <a:t>синхронизация</a:t>
            </a:r>
            <a:r>
              <a:rPr sz="1400" dirty="0"/>
              <a:t>, PF, </a:t>
            </a:r>
            <a:r>
              <a:rPr sz="1400" dirty="0" err="1"/>
              <a:t>камера</a:t>
            </a:r>
            <a:r>
              <a:rPr sz="1400" dirty="0"/>
              <a:t>, </a:t>
            </a:r>
            <a:r>
              <a:rPr sz="1400" dirty="0" err="1"/>
              <a:t>MAVLink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Доказано</a:t>
            </a:r>
            <a:r>
              <a:rPr sz="1400" dirty="0"/>
              <a:t>: RC/PF; p90 &lt; 15 м; </a:t>
            </a:r>
            <a:r>
              <a:rPr sz="1400" dirty="0" err="1"/>
              <a:t>реальный</a:t>
            </a:r>
            <a:r>
              <a:rPr sz="1400" dirty="0"/>
              <a:t> </a:t>
            </a:r>
            <a:r>
              <a:rPr sz="1400" dirty="0" err="1"/>
              <a:t>трек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Ограничения</a:t>
            </a:r>
            <a:r>
              <a:rPr sz="1400" dirty="0"/>
              <a:t>: </a:t>
            </a:r>
            <a:r>
              <a:rPr sz="1400" dirty="0" err="1"/>
              <a:t>геопривязка</a:t>
            </a:r>
            <a:r>
              <a:rPr sz="1400" dirty="0"/>
              <a:t>, </a:t>
            </a:r>
            <a:r>
              <a:rPr sz="1400" dirty="0" err="1"/>
              <a:t>MAVLink</a:t>
            </a:r>
            <a:r>
              <a:rPr sz="1400" dirty="0"/>
              <a:t>, </a:t>
            </a:r>
            <a:r>
              <a:rPr sz="1400" dirty="0" err="1"/>
              <a:t>камера</a:t>
            </a:r>
            <a:r>
              <a:rPr sz="1400" dirty="0"/>
              <a:t> offline, p95/HEPU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Публикации</a:t>
            </a:r>
            <a:r>
              <a:rPr sz="1400" dirty="0"/>
              <a:t> / </a:t>
            </a:r>
            <a:r>
              <a:rPr sz="1400" dirty="0" err="1"/>
              <a:t>выступления</a:t>
            </a:r>
            <a:r>
              <a:rPr sz="1400" dirty="0"/>
              <a:t> / </a:t>
            </a:r>
            <a:r>
              <a:rPr sz="1400" dirty="0" err="1"/>
              <a:t>акты</a:t>
            </a:r>
            <a:r>
              <a:rPr sz="1400" dirty="0"/>
              <a:t>: [</a:t>
            </a:r>
            <a:r>
              <a:rPr sz="1400" dirty="0" err="1"/>
              <a:t>вставить</a:t>
            </a:r>
            <a:r>
              <a:rPr sz="1400" dirty="0"/>
              <a:t> </a:t>
            </a:r>
            <a:r>
              <a:rPr sz="1400" dirty="0" err="1"/>
              <a:t>факты</a:t>
            </a:r>
            <a:r>
              <a:rPr sz="1400" dirty="0"/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[Визуал: Без графиков]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DFAC32-6487-4A53-A792-9B261B883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5" name="Заголовок 8">
            <a:extLst>
              <a:ext uri="{FF2B5EF4-FFF2-40B4-BE49-F238E27FC236}">
                <a16:creationId xmlns:a16="http://schemas.microsoft.com/office/drawing/2014/main" id="{3DB06F1F-0D1E-4EA9-8A5B-C05C7A81A2D4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Заключение</a:t>
            </a:r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8A87E8D-C6BE-4668-A298-7DA44D82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2258E0-D367-4C60-9557-18D8361FF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339" y="1282173"/>
            <a:ext cx="6929724" cy="37701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72E0C25-4D24-4824-8DD5-D9617437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47094"/>
            <a:ext cx="10515600" cy="2852737"/>
          </a:xfrm>
        </p:spPr>
        <p:txBody>
          <a:bodyPr anchor="ctr"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3EB261-A094-4884-9A3C-2BD8ECEFD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31976"/>
            <a:ext cx="10701338" cy="144593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Бояринов Иван Романович</a:t>
            </a:r>
          </a:p>
          <a:p>
            <a:pPr algn="r"/>
            <a:r>
              <a:rPr lang="ru-RU" dirty="0">
                <a:solidFill>
                  <a:schemeClr val="tx1"/>
                </a:solidFill>
              </a:rPr>
              <a:t>М3О-218СВ-24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A35C9B-FE95-48E8-91B0-8108512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25454-849B-AE3C-9987-E43F829A70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37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1322</Words>
  <Application>Microsoft Office PowerPoint</Application>
  <PresentationFormat>Широкоэкранный</PresentationFormat>
  <Paragraphs>205</Paragraphs>
  <Slides>21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Проблема мониторинга FPV-БВС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Konstantin Telenkov</dc:creator>
  <cp:lastModifiedBy>Gromozeka</cp:lastModifiedBy>
  <cp:revision>51</cp:revision>
  <dcterms:created xsi:type="dcterms:W3CDTF">2026-05-13T09:05:02Z</dcterms:created>
  <dcterms:modified xsi:type="dcterms:W3CDTF">2026-05-25T09:11:51Z</dcterms:modified>
</cp:coreProperties>
</file>